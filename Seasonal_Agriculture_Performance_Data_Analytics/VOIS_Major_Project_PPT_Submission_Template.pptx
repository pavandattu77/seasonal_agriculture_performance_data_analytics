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5" r:id="rId13"/>
    <p:sldId id="346" r:id="rId14"/>
    <p:sldId id="347"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8" d="100"/>
          <a:sy n="88" d="100"/>
        </p:scale>
        <p:origin x="165" y="5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352789" y="3522516"/>
            <a:ext cx="6373586" cy="861497"/>
          </a:xfrm>
        </p:spPr>
        <p:txBody>
          <a:bodyPr vert="horz" lIns="91440" tIns="45720" rIns="91440" bIns="45720" rtlCol="0" anchor="t">
            <a:normAutofit/>
          </a:bodyPr>
          <a:lstStyle/>
          <a:p>
            <a:pPr algn="r"/>
            <a:r>
              <a:rPr lang="en-US" b="0" dirty="0">
                <a:solidFill>
                  <a:schemeClr val="tx1"/>
                </a:solidFill>
              </a:rPr>
              <a:t>[Bandaru Pavan Dattu</a:t>
            </a:r>
            <a:endParaRPr lang="en-IN" b="0" dirty="0">
              <a:solidFill>
                <a:schemeClr val="tx1"/>
              </a:solidFill>
            </a:endParaRPr>
          </a:p>
          <a:p>
            <a:pPr algn="r"/>
            <a:r>
              <a:rPr lang="en-US" b="0" dirty="0">
                <a:solidFill>
                  <a:schemeClr val="tx1"/>
                </a:solidFill>
              </a:rPr>
              <a:t>Malla Reddy College of Engineering and Technology]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10158365" cy="743448"/>
          </a:xfrm>
        </p:spPr>
        <p:txBody>
          <a:bodyPr>
            <a:normAutofit fontScale="90000"/>
          </a:bodyPr>
          <a:lstStyle/>
          <a:p>
            <a:r>
              <a:rPr lang="en-GB" sz="3200" dirty="0"/>
              <a:t>Project Title - Seasonal Agriculture Performance Analysis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4256851" cy="646331"/>
          </a:xfrm>
          <a:prstGeom prst="rect">
            <a:avLst/>
          </a:prstGeom>
          <a:noFill/>
        </p:spPr>
        <p:txBody>
          <a:bodyPr wrap="square" rtlCol="0">
            <a:spAutoFit/>
          </a:bodyPr>
          <a:lstStyle/>
          <a:p>
            <a:r>
              <a:rPr lang="en-US" b="1" dirty="0"/>
              <a:t>AICTE STU ID : (STU6864341ed349b1751397406)</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855980" y="2102230"/>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675957" y="828003"/>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8821058" cy="5901340"/>
          </a:xfrm>
        </p:spPr>
        <p:txBody>
          <a:bodyPr>
            <a:normAutofit fontScale="90000"/>
          </a:bodyPr>
          <a:lstStyle/>
          <a:p>
            <a:r>
              <a:rPr lang="en-GB" dirty="0"/>
              <a:t>Project Description:</a:t>
            </a:r>
            <a:br>
              <a:rPr lang="en-GB" dirty="0"/>
            </a:br>
            <a:br>
              <a:rPr lang="en-GB" dirty="0"/>
            </a:br>
            <a:r>
              <a:rPr lang="en-IN" sz="2400" b="0" dirty="0"/>
              <a:t>Seasonal Agriculture Performance Data Analytics is a data analytics project that examines agricultural production data across different seasons to identify patterns, trends, and factors affecting crop performance. The project involves data cleaning, handling missing values, exploratory data analysis (EDA), statistical analysis, correlation analysis, and seasonal comparisons. By analysing variables such as crop type, rainfall, temperature, irrigation methods, production, yield, and profit, the project provides meaningful insights that can help improve agricultural planning and decision-making. The findings support farmers and agricultural stakeholders in understanding seasonal impacts on crop productivity and profitability.</a:t>
            </a:r>
            <a:r>
              <a:rPr lang="en-GB" b="0" dirty="0"/>
              <a:t>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55000" lnSpcReduction="20000"/>
          </a:bodyPr>
          <a:lstStyle/>
          <a:p>
            <a:pPr marL="0" indent="0">
              <a:buNone/>
            </a:pPr>
            <a:r>
              <a:rPr lang="en-IN" sz="3600" dirty="0"/>
              <a:t>The primary end users of this system are:</a:t>
            </a:r>
          </a:p>
          <a:p>
            <a:pPr marL="0" indent="0">
              <a:buNone/>
            </a:pPr>
            <a:endParaRPr lang="en-IN" sz="3600" dirty="0"/>
          </a:p>
          <a:p>
            <a:pPr lvl="0"/>
            <a:r>
              <a:rPr lang="en-IN" sz="3600" b="1" dirty="0"/>
              <a:t>Farmers</a:t>
            </a:r>
            <a:r>
              <a:rPr lang="en-IN" sz="3600" dirty="0"/>
              <a:t> – to make informed decisions about crop selection and cultivation practices. </a:t>
            </a:r>
          </a:p>
          <a:p>
            <a:pPr lvl="0"/>
            <a:r>
              <a:rPr lang="en-IN" sz="3600" b="1" dirty="0"/>
              <a:t>Agricultural Officers</a:t>
            </a:r>
            <a:r>
              <a:rPr lang="en-IN" sz="3600" dirty="0"/>
              <a:t> – to monitor agricultural trends and provide recommendations. </a:t>
            </a:r>
          </a:p>
          <a:p>
            <a:pPr lvl="0"/>
            <a:r>
              <a:rPr lang="en-IN" sz="3600" b="1" dirty="0"/>
              <a:t>Government Agencies</a:t>
            </a:r>
            <a:r>
              <a:rPr lang="en-IN" sz="3600" dirty="0"/>
              <a:t> – for policy planning and resource allocation. </a:t>
            </a:r>
          </a:p>
          <a:p>
            <a:pPr lvl="0"/>
            <a:r>
              <a:rPr lang="en-IN" sz="3600" b="1" dirty="0"/>
              <a:t>Agricultural Researchers</a:t>
            </a:r>
            <a:r>
              <a:rPr lang="en-IN" sz="3600" dirty="0"/>
              <a:t> – for studying crop performance and seasonal effects. </a:t>
            </a:r>
          </a:p>
          <a:p>
            <a:pPr lvl="0"/>
            <a:r>
              <a:rPr lang="en-IN" sz="3600" b="1" dirty="0"/>
              <a:t>Agribusiness Companies</a:t>
            </a:r>
            <a:r>
              <a:rPr lang="en-IN" sz="3600" dirty="0"/>
              <a:t> – to understand production trends and market opportunities.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fade">
                                      <p:cBhvr>
                                        <p:cTn id="42" dur="1000"/>
                                        <p:tgtEl>
                                          <p:spTgt spid="2">
                                            <p:txEl>
                                              <p:pRg st="5" end="5"/>
                                            </p:txEl>
                                          </p:spTgt>
                                        </p:tgtEl>
                                      </p:cBhvr>
                                    </p:animEffect>
                                    <p:anim calcmode="lin" valueType="num">
                                      <p:cBhvr>
                                        <p:cTn id="4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6" end="6"/>
                                            </p:txEl>
                                          </p:spTgt>
                                        </p:tgtEl>
                                        <p:attrNameLst>
                                          <p:attrName>style.visibility</p:attrName>
                                        </p:attrNameLst>
                                      </p:cBhvr>
                                      <p:to>
                                        <p:strVal val="visible"/>
                                      </p:to>
                                    </p:set>
                                    <p:animEffect transition="in" filter="fade">
                                      <p:cBhvr>
                                        <p:cTn id="49" dur="1000"/>
                                        <p:tgtEl>
                                          <p:spTgt spid="2">
                                            <p:txEl>
                                              <p:pRg st="6" end="6"/>
                                            </p:txEl>
                                          </p:spTgt>
                                        </p:tgtEl>
                                      </p:cBhvr>
                                    </p:animEffect>
                                    <p:anim calcmode="lin" valueType="num">
                                      <p:cBhvr>
                                        <p:cTn id="50"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680576" y="1421674"/>
            <a:ext cx="9027702" cy="5243448"/>
          </a:xfrm>
        </p:spPr>
        <p:txBody>
          <a:bodyPr/>
          <a:lstStyle/>
          <a:p>
            <a:r>
              <a:rPr lang="en-IN" b="1" dirty="0"/>
              <a:t>Programming Language</a:t>
            </a:r>
          </a:p>
          <a:p>
            <a:pPr lvl="0"/>
            <a:r>
              <a:rPr lang="en-IN" dirty="0"/>
              <a:t>Python </a:t>
            </a:r>
          </a:p>
          <a:p>
            <a:r>
              <a:rPr lang="en-IN" b="1" dirty="0"/>
              <a:t>Libraries Used</a:t>
            </a:r>
          </a:p>
          <a:p>
            <a:pPr lvl="0"/>
            <a:r>
              <a:rPr lang="en-IN" dirty="0"/>
              <a:t>Pandas (Data Manipulation) </a:t>
            </a:r>
          </a:p>
          <a:p>
            <a:pPr lvl="0"/>
            <a:r>
              <a:rPr lang="en-IN" dirty="0"/>
              <a:t>NumPy (Numerical Computation) </a:t>
            </a:r>
          </a:p>
          <a:p>
            <a:pPr lvl="0"/>
            <a:r>
              <a:rPr lang="en-IN" dirty="0"/>
              <a:t>Matplotlib (Data Visualization) </a:t>
            </a:r>
          </a:p>
          <a:p>
            <a:pPr lvl="0"/>
            <a:r>
              <a:rPr lang="en-IN" dirty="0"/>
              <a:t>Seaborn (Statistical Visualization)</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0"/>
            <a:ext cx="3804704" cy="4962143"/>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lvl="0"/>
            <a:r>
              <a:rPr lang="en-IN" sz="2000"/>
              <a:t>This graph shows the number of records available for each agricultural season. </a:t>
            </a:r>
          </a:p>
          <a:p>
            <a:pPr lvl="0"/>
            <a:r>
              <a:rPr lang="en-IN" sz="2000"/>
              <a:t>It helps identify whether the dataset is balanced across seasons. </a:t>
            </a:r>
          </a:p>
          <a:p>
            <a:pPr lvl="0"/>
            <a:r>
              <a:rPr lang="en-IN" sz="2000"/>
              <a:t>Seasons with higher bars contain more observations and data points. </a:t>
            </a:r>
          </a:p>
          <a:p>
            <a:pPr lvl="0"/>
            <a:r>
              <a:rPr lang="en-IN" sz="2000"/>
              <a:t>A balanced distribution improves the reliability of seasonal comparisons.</a:t>
            </a:r>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4F7F4C1-762A-1D3A-CCD7-DFF12CDBA12F}"/>
              </a:ext>
            </a:extLst>
          </p:cNvPr>
          <p:cNvPicPr>
            <a:picLocks noChangeAspect="1"/>
          </p:cNvPicPr>
          <p:nvPr/>
        </p:nvPicPr>
        <p:blipFill>
          <a:blip r:embed="rId3"/>
          <a:stretch>
            <a:fillRect/>
          </a:stretch>
        </p:blipFill>
        <p:spPr>
          <a:xfrm>
            <a:off x="4507341" y="1085833"/>
            <a:ext cx="6638974" cy="4686334"/>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2"/>
            <a:ext cx="5202304" cy="5040227"/>
          </a:xfrm>
        </p:spPr>
        <p:txBody>
          <a:bodyPr>
            <a:normAutofit fontScale="85000" lnSpcReduction="20000"/>
          </a:bodyPr>
          <a:lstStyle/>
          <a:p>
            <a:pPr marL="0" indent="0">
              <a:buNone/>
            </a:pPr>
            <a:r>
              <a:rPr lang="en-IN" dirty="0" err="1"/>
              <a:t>plt.figure</a:t>
            </a:r>
            <a:r>
              <a:rPr lang="en-IN" dirty="0"/>
              <a:t>(</a:t>
            </a:r>
            <a:r>
              <a:rPr lang="en-IN" dirty="0" err="1"/>
              <a:t>figsize</a:t>
            </a:r>
            <a:r>
              <a:rPr lang="en-IN" dirty="0"/>
              <a:t>=(8, 5))</a:t>
            </a:r>
          </a:p>
          <a:p>
            <a:pPr marL="0" indent="0">
              <a:buNone/>
            </a:pPr>
            <a:r>
              <a:rPr lang="en-IN" dirty="0" err="1"/>
              <a:t>sns.histplot</a:t>
            </a:r>
            <a:r>
              <a:rPr lang="en-IN" dirty="0"/>
              <a:t>(data=</a:t>
            </a:r>
            <a:r>
              <a:rPr lang="en-IN" dirty="0" err="1"/>
              <a:t>df</a:t>
            </a:r>
            <a:r>
              <a:rPr lang="en-IN" dirty="0"/>
              <a:t>, x="</a:t>
            </a:r>
            <a:r>
              <a:rPr lang="en-IN" dirty="0" err="1"/>
              <a:t>Profit_INR</a:t>
            </a:r>
            <a:r>
              <a:rPr lang="en-IN" dirty="0"/>
              <a:t>", </a:t>
            </a:r>
            <a:r>
              <a:rPr lang="en-IN" dirty="0" err="1"/>
              <a:t>kde</a:t>
            </a:r>
            <a:r>
              <a:rPr lang="en-IN" dirty="0"/>
              <a:t>=True)</a:t>
            </a:r>
          </a:p>
          <a:p>
            <a:pPr marL="0" indent="0">
              <a:buNone/>
            </a:pPr>
            <a:r>
              <a:rPr lang="en-IN" dirty="0" err="1"/>
              <a:t>plt.title</a:t>
            </a:r>
            <a:r>
              <a:rPr lang="en-IN" dirty="0"/>
              <a:t>("Distribution of Farm Profit")</a:t>
            </a:r>
          </a:p>
          <a:p>
            <a:pPr marL="0" indent="0">
              <a:buNone/>
            </a:pPr>
            <a:r>
              <a:rPr lang="en-IN" dirty="0" err="1"/>
              <a:t>plt.xlabel</a:t>
            </a:r>
            <a:r>
              <a:rPr lang="en-IN" dirty="0"/>
              <a:t>("Profit (INR)")</a:t>
            </a:r>
          </a:p>
          <a:p>
            <a:pPr marL="0" indent="0">
              <a:buNone/>
            </a:pPr>
            <a:r>
              <a:rPr lang="en-IN" dirty="0" err="1"/>
              <a:t>plt.ylabel</a:t>
            </a:r>
            <a:r>
              <a:rPr lang="en-IN" dirty="0"/>
              <a:t>("Frequency")</a:t>
            </a:r>
          </a:p>
          <a:p>
            <a:pPr marL="0" indent="0">
              <a:buNone/>
            </a:pPr>
            <a:r>
              <a:rPr lang="en-IN" dirty="0" err="1"/>
              <a:t>plt.tight_layout</a:t>
            </a:r>
            <a:r>
              <a:rPr lang="en-IN" dirty="0"/>
              <a:t>()</a:t>
            </a:r>
          </a:p>
          <a:p>
            <a:pPr marL="0" indent="0">
              <a:buNone/>
            </a:pPr>
            <a:r>
              <a:rPr lang="en-IN" dirty="0" err="1"/>
              <a:t>plt.show</a:t>
            </a:r>
            <a:r>
              <a:rPr lang="en-IN" dirty="0"/>
              <a:t>()</a:t>
            </a:r>
          </a:p>
          <a:p>
            <a:pPr marL="0" indent="0">
              <a:buNone/>
            </a:pPr>
            <a:endParaRPr lang="en-US" dirty="0"/>
          </a:p>
          <a:p>
            <a:pPr lvl="0"/>
            <a:r>
              <a:rPr lang="en-IN" dirty="0"/>
              <a:t>The histogram illustrates the distribution of farm profits across all records. </a:t>
            </a:r>
          </a:p>
          <a:p>
            <a:pPr lvl="0"/>
            <a:r>
              <a:rPr lang="en-IN" dirty="0"/>
              <a:t>Most farms appear to fall within a particular profit range, while some show unusually high or low profits. </a:t>
            </a:r>
          </a:p>
          <a:p>
            <a:pPr lvl="0"/>
            <a:r>
              <a:rPr lang="en-IN" dirty="0"/>
              <a:t>The KDE curve helps visualize the overall profit trend. </a:t>
            </a:r>
          </a:p>
          <a:p>
            <a:pPr lvl="0"/>
            <a:r>
              <a:rPr lang="en-IN" dirty="0"/>
              <a:t>This graph is useful for understanding profitability patterns and detecting skewness. </a:t>
            </a:r>
          </a:p>
          <a:p>
            <a:pPr marL="0" indent="0">
              <a:buNone/>
            </a:pPr>
            <a:endParaRPr lang="en-IN" dirty="0"/>
          </a:p>
        </p:txBody>
      </p:sp>
      <p:pic>
        <p:nvPicPr>
          <p:cNvPr id="3" name="Picture 2">
            <a:extLst>
              <a:ext uri="{FF2B5EF4-FFF2-40B4-BE49-F238E27FC236}">
                <a16:creationId xmlns:a16="http://schemas.microsoft.com/office/drawing/2014/main" id="{6F134B92-BC78-6925-D6C0-0F7352525684}"/>
              </a:ext>
            </a:extLst>
          </p:cNvPr>
          <p:cNvPicPr>
            <a:picLocks noChangeAspect="1"/>
          </p:cNvPicPr>
          <p:nvPr/>
        </p:nvPicPr>
        <p:blipFill>
          <a:blip r:embed="rId3"/>
          <a:stretch>
            <a:fillRect/>
          </a:stretch>
        </p:blipFill>
        <p:spPr>
          <a:xfrm>
            <a:off x="6182533" y="2197123"/>
            <a:ext cx="5784714" cy="3590011"/>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6" end="6"/>
                                            </p:txEl>
                                          </p:spTgt>
                                        </p:tgtEl>
                                        <p:attrNameLst>
                                          <p:attrName>style.visibility</p:attrName>
                                        </p:attrNameLst>
                                      </p:cBhvr>
                                      <p:to>
                                        <p:strVal val="visible"/>
                                      </p:to>
                                    </p:set>
                                    <p:animEffect transition="in" filter="fade">
                                      <p:cBhvr>
                                        <p:cTn id="70" dur="1000"/>
                                        <p:tgtEl>
                                          <p:spTgt spid="10">
                                            <p:txEl>
                                              <p:pRg st="6" end="6"/>
                                            </p:txEl>
                                          </p:spTgt>
                                        </p:tgtEl>
                                      </p:cBhvr>
                                    </p:animEffect>
                                    <p:anim calcmode="lin" valueType="num">
                                      <p:cBhvr>
                                        <p:cTn id="71"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0">
                                            <p:txEl>
                                              <p:pRg st="8" end="8"/>
                                            </p:txEl>
                                          </p:spTgt>
                                        </p:tgtEl>
                                        <p:attrNameLst>
                                          <p:attrName>style.visibility</p:attrName>
                                        </p:attrNameLst>
                                      </p:cBhvr>
                                      <p:to>
                                        <p:strVal val="visible"/>
                                      </p:to>
                                    </p:set>
                                    <p:animEffect transition="in" filter="fade">
                                      <p:cBhvr>
                                        <p:cTn id="77" dur="1000"/>
                                        <p:tgtEl>
                                          <p:spTgt spid="10">
                                            <p:txEl>
                                              <p:pRg st="8" end="8"/>
                                            </p:txEl>
                                          </p:spTgt>
                                        </p:tgtEl>
                                      </p:cBhvr>
                                    </p:animEffect>
                                    <p:anim calcmode="lin" valueType="num">
                                      <p:cBhvr>
                                        <p:cTn id="78" dur="1000" fill="hold"/>
                                        <p:tgtEl>
                                          <p:spTgt spid="10">
                                            <p:txEl>
                                              <p:pRg st="8" end="8"/>
                                            </p:txEl>
                                          </p:spTgt>
                                        </p:tgtEl>
                                        <p:attrNameLst>
                                          <p:attrName>ppt_x</p:attrName>
                                        </p:attrNameLst>
                                      </p:cBhvr>
                                      <p:tavLst>
                                        <p:tav tm="0">
                                          <p:val>
                                            <p:strVal val="#ppt_x"/>
                                          </p:val>
                                        </p:tav>
                                        <p:tav tm="100000">
                                          <p:val>
                                            <p:strVal val="#ppt_x"/>
                                          </p:val>
                                        </p:tav>
                                      </p:tavLst>
                                    </p:anim>
                                    <p:anim calcmode="lin" valueType="num">
                                      <p:cBhvr>
                                        <p:cTn id="79" dur="1000" fill="hold"/>
                                        <p:tgtEl>
                                          <p:spTgt spid="10">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10">
                                            <p:txEl>
                                              <p:pRg st="9" end="9"/>
                                            </p:txEl>
                                          </p:spTgt>
                                        </p:tgtEl>
                                        <p:attrNameLst>
                                          <p:attrName>style.visibility</p:attrName>
                                        </p:attrNameLst>
                                      </p:cBhvr>
                                      <p:to>
                                        <p:strVal val="visible"/>
                                      </p:to>
                                    </p:set>
                                    <p:animEffect transition="in" filter="fade">
                                      <p:cBhvr>
                                        <p:cTn id="84" dur="1000"/>
                                        <p:tgtEl>
                                          <p:spTgt spid="10">
                                            <p:txEl>
                                              <p:pRg st="9" end="9"/>
                                            </p:txEl>
                                          </p:spTgt>
                                        </p:tgtEl>
                                      </p:cBhvr>
                                    </p:animEffect>
                                    <p:anim calcmode="lin" valueType="num">
                                      <p:cBhvr>
                                        <p:cTn id="85" dur="1000" fill="hold"/>
                                        <p:tgtEl>
                                          <p:spTgt spid="10">
                                            <p:txEl>
                                              <p:pRg st="9" end="9"/>
                                            </p:txEl>
                                          </p:spTgt>
                                        </p:tgtEl>
                                        <p:attrNameLst>
                                          <p:attrName>ppt_x</p:attrName>
                                        </p:attrNameLst>
                                      </p:cBhvr>
                                      <p:tavLst>
                                        <p:tav tm="0">
                                          <p:val>
                                            <p:strVal val="#ppt_x"/>
                                          </p:val>
                                        </p:tav>
                                        <p:tav tm="100000">
                                          <p:val>
                                            <p:strVal val="#ppt_x"/>
                                          </p:val>
                                        </p:tav>
                                      </p:tavLst>
                                    </p:anim>
                                    <p:anim calcmode="lin" valueType="num">
                                      <p:cBhvr>
                                        <p:cTn id="86" dur="1000" fill="hold"/>
                                        <p:tgtEl>
                                          <p:spTgt spid="10">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10">
                                            <p:txEl>
                                              <p:pRg st="10" end="10"/>
                                            </p:txEl>
                                          </p:spTgt>
                                        </p:tgtEl>
                                        <p:attrNameLst>
                                          <p:attrName>style.visibility</p:attrName>
                                        </p:attrNameLst>
                                      </p:cBhvr>
                                      <p:to>
                                        <p:strVal val="visible"/>
                                      </p:to>
                                    </p:set>
                                    <p:animEffect transition="in" filter="fade">
                                      <p:cBhvr>
                                        <p:cTn id="91" dur="1000"/>
                                        <p:tgtEl>
                                          <p:spTgt spid="10">
                                            <p:txEl>
                                              <p:pRg st="10" end="10"/>
                                            </p:txEl>
                                          </p:spTgt>
                                        </p:tgtEl>
                                      </p:cBhvr>
                                    </p:animEffect>
                                    <p:anim calcmode="lin" valueType="num">
                                      <p:cBhvr>
                                        <p:cTn id="92" dur="1000" fill="hold"/>
                                        <p:tgtEl>
                                          <p:spTgt spid="10">
                                            <p:txEl>
                                              <p:pRg st="10" end="10"/>
                                            </p:txEl>
                                          </p:spTgt>
                                        </p:tgtEl>
                                        <p:attrNameLst>
                                          <p:attrName>ppt_x</p:attrName>
                                        </p:attrNameLst>
                                      </p:cBhvr>
                                      <p:tavLst>
                                        <p:tav tm="0">
                                          <p:val>
                                            <p:strVal val="#ppt_x"/>
                                          </p:val>
                                        </p:tav>
                                        <p:tav tm="100000">
                                          <p:val>
                                            <p:strVal val="#ppt_x"/>
                                          </p:val>
                                        </p:tav>
                                      </p:tavLst>
                                    </p:anim>
                                    <p:anim calcmode="lin" valueType="num">
                                      <p:cBhvr>
                                        <p:cTn id="93" dur="1000" fill="hold"/>
                                        <p:tgtEl>
                                          <p:spTgt spid="10">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10">
                                            <p:txEl>
                                              <p:pRg st="11" end="11"/>
                                            </p:txEl>
                                          </p:spTgt>
                                        </p:tgtEl>
                                        <p:attrNameLst>
                                          <p:attrName>style.visibility</p:attrName>
                                        </p:attrNameLst>
                                      </p:cBhvr>
                                      <p:to>
                                        <p:strVal val="visible"/>
                                      </p:to>
                                    </p:set>
                                    <p:animEffect transition="in" filter="fade">
                                      <p:cBhvr>
                                        <p:cTn id="98" dur="1000"/>
                                        <p:tgtEl>
                                          <p:spTgt spid="10">
                                            <p:txEl>
                                              <p:pRg st="11" end="11"/>
                                            </p:txEl>
                                          </p:spTgt>
                                        </p:tgtEl>
                                      </p:cBhvr>
                                    </p:animEffect>
                                    <p:anim calcmode="lin" valueType="num">
                                      <p:cBhvr>
                                        <p:cTn id="99" dur="1000" fill="hold"/>
                                        <p:tgtEl>
                                          <p:spTgt spid="10">
                                            <p:txEl>
                                              <p:pRg st="11" end="11"/>
                                            </p:txEl>
                                          </p:spTgt>
                                        </p:tgtEl>
                                        <p:attrNameLst>
                                          <p:attrName>ppt_x</p:attrName>
                                        </p:attrNameLst>
                                      </p:cBhvr>
                                      <p:tavLst>
                                        <p:tav tm="0">
                                          <p:val>
                                            <p:strVal val="#ppt_x"/>
                                          </p:val>
                                        </p:tav>
                                        <p:tav tm="100000">
                                          <p:val>
                                            <p:strVal val="#ppt_x"/>
                                          </p:val>
                                        </p:tav>
                                      </p:tavLst>
                                    </p:anim>
                                    <p:anim calcmode="lin" valueType="num">
                                      <p:cBhvr>
                                        <p:cTn id="100" dur="1000" fill="hold"/>
                                        <p:tgtEl>
                                          <p:spTgt spid="10">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5544650" cy="5366436"/>
          </a:xfrm>
        </p:spPr>
        <p:txBody>
          <a:bodyPr>
            <a:normAutofit fontScale="92500" lnSpcReduction="20000"/>
          </a:bodyPr>
          <a:lstStyle/>
          <a:p>
            <a:pPr marL="0" indent="0">
              <a:buNone/>
            </a:pPr>
            <a:r>
              <a:rPr lang="en-IN" dirty="0" err="1"/>
              <a:t>plt.figure</a:t>
            </a:r>
            <a:r>
              <a:rPr lang="en-IN" dirty="0"/>
              <a:t>(</a:t>
            </a:r>
            <a:r>
              <a:rPr lang="en-IN" dirty="0" err="1"/>
              <a:t>figsize</a:t>
            </a:r>
            <a:r>
              <a:rPr lang="en-IN" dirty="0"/>
              <a:t>=(7, 7))</a:t>
            </a:r>
          </a:p>
          <a:p>
            <a:pPr marL="0" indent="0">
              <a:buNone/>
            </a:pPr>
            <a:r>
              <a:rPr lang="en-IN" dirty="0" err="1"/>
              <a:t>df</a:t>
            </a:r>
            <a:r>
              <a:rPr lang="en-IN" dirty="0"/>
              <a:t>['Season'].</a:t>
            </a:r>
            <a:r>
              <a:rPr lang="en-IN" dirty="0" err="1"/>
              <a:t>value_counts</a:t>
            </a:r>
            <a:r>
              <a:rPr lang="en-IN" dirty="0"/>
              <a:t>().</a:t>
            </a:r>
            <a:r>
              <a:rPr lang="en-IN" dirty="0" err="1"/>
              <a:t>plot.pie</a:t>
            </a:r>
            <a:r>
              <a:rPr lang="en-IN" dirty="0"/>
              <a:t>(</a:t>
            </a:r>
            <a:r>
              <a:rPr lang="en-IN" dirty="0" err="1"/>
              <a:t>autopct</a:t>
            </a:r>
            <a:r>
              <a:rPr lang="en-IN" dirty="0"/>
              <a:t>='%1.1f%%', </a:t>
            </a:r>
            <a:r>
              <a:rPr lang="en-IN" dirty="0" err="1"/>
              <a:t>startangle</a:t>
            </a:r>
            <a:r>
              <a:rPr lang="en-IN" dirty="0"/>
              <a:t>=90, </a:t>
            </a:r>
            <a:r>
              <a:rPr lang="en-IN" dirty="0" err="1"/>
              <a:t>cmap</a:t>
            </a:r>
            <a:r>
              <a:rPr lang="en-IN" dirty="0"/>
              <a:t>='</a:t>
            </a:r>
            <a:r>
              <a:rPr lang="en-IN" dirty="0" err="1"/>
              <a:t>viridis</a:t>
            </a:r>
            <a:r>
              <a:rPr lang="en-IN" dirty="0"/>
              <a:t>')</a:t>
            </a:r>
          </a:p>
          <a:p>
            <a:pPr marL="0" indent="0">
              <a:buNone/>
            </a:pPr>
            <a:r>
              <a:rPr lang="en-IN" dirty="0" err="1"/>
              <a:t>plt.title</a:t>
            </a:r>
            <a:r>
              <a:rPr lang="en-IN" dirty="0"/>
              <a:t>('Distribution of Records by Season')</a:t>
            </a:r>
          </a:p>
          <a:p>
            <a:pPr marL="0" indent="0">
              <a:buNone/>
            </a:pPr>
            <a:r>
              <a:rPr lang="en-IN" dirty="0" err="1"/>
              <a:t>plt.ylabel</a:t>
            </a:r>
            <a:r>
              <a:rPr lang="en-IN" dirty="0"/>
              <a:t>('')  # Remove the y-axis label</a:t>
            </a:r>
          </a:p>
          <a:p>
            <a:pPr marL="0" indent="0">
              <a:buNone/>
            </a:pPr>
            <a:r>
              <a:rPr lang="en-IN" dirty="0" err="1"/>
              <a:t>plt.tight_layout</a:t>
            </a:r>
            <a:r>
              <a:rPr lang="en-IN" dirty="0"/>
              <a:t>()</a:t>
            </a:r>
          </a:p>
          <a:p>
            <a:pPr marL="0" indent="0">
              <a:buNone/>
            </a:pPr>
            <a:r>
              <a:rPr lang="en-IN" dirty="0" err="1"/>
              <a:t>plt.show</a:t>
            </a:r>
            <a:r>
              <a:rPr lang="en-IN" dirty="0"/>
              <a:t>()</a:t>
            </a:r>
          </a:p>
          <a:p>
            <a:pPr marL="0" indent="0">
              <a:buNone/>
            </a:pPr>
            <a:endParaRPr lang="en-US" dirty="0"/>
          </a:p>
          <a:p>
            <a:pPr lvl="0"/>
            <a:r>
              <a:rPr lang="en-IN" dirty="0"/>
              <a:t>The pie chart shows the percentage contribution of each season to the dataset. </a:t>
            </a:r>
          </a:p>
          <a:p>
            <a:pPr lvl="0"/>
            <a:r>
              <a:rPr lang="en-IN" dirty="0"/>
              <a:t>It provides a quick visual comparison of seasonal representation. </a:t>
            </a:r>
          </a:p>
          <a:p>
            <a:pPr lvl="0"/>
            <a:r>
              <a:rPr lang="en-IN" dirty="0"/>
              <a:t>Larger slices indicate seasons with more recorded observations. </a:t>
            </a:r>
          </a:p>
          <a:p>
            <a:pPr lvl="0"/>
            <a:r>
              <a:rPr lang="en-IN" dirty="0"/>
              <a:t>The chart helps assess whether all seasons are adequately represented in the analysis.</a:t>
            </a:r>
          </a:p>
          <a:p>
            <a:pPr marL="0" indent="0">
              <a:buNone/>
            </a:pPr>
            <a:endParaRPr lang="en-IN" dirty="0"/>
          </a:p>
        </p:txBody>
      </p:sp>
      <p:pic>
        <p:nvPicPr>
          <p:cNvPr id="3" name="Picture 2">
            <a:extLst>
              <a:ext uri="{FF2B5EF4-FFF2-40B4-BE49-F238E27FC236}">
                <a16:creationId xmlns:a16="http://schemas.microsoft.com/office/drawing/2014/main" id="{8EFBB853-CF7F-83F5-3360-E446B178A1F7}"/>
              </a:ext>
            </a:extLst>
          </p:cNvPr>
          <p:cNvPicPr>
            <a:picLocks noChangeAspect="1"/>
          </p:cNvPicPr>
          <p:nvPr/>
        </p:nvPicPr>
        <p:blipFill>
          <a:blip r:embed="rId3"/>
          <a:stretch>
            <a:fillRect/>
          </a:stretch>
        </p:blipFill>
        <p:spPr>
          <a:xfrm>
            <a:off x="7116376" y="2062843"/>
            <a:ext cx="3988436" cy="3756273"/>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7" end="7"/>
                                            </p:txEl>
                                          </p:spTgt>
                                        </p:tgtEl>
                                        <p:attrNameLst>
                                          <p:attrName>style.visibility</p:attrName>
                                        </p:attrNameLst>
                                      </p:cBhvr>
                                      <p:to>
                                        <p:strVal val="visible"/>
                                      </p:to>
                                    </p:set>
                                    <p:animEffect transition="in" filter="fade">
                                      <p:cBhvr>
                                        <p:cTn id="70" dur="1000"/>
                                        <p:tgtEl>
                                          <p:spTgt spid="10">
                                            <p:txEl>
                                              <p:pRg st="7" end="7"/>
                                            </p:txEl>
                                          </p:spTgt>
                                        </p:tgtEl>
                                      </p:cBhvr>
                                    </p:animEffect>
                                    <p:anim calcmode="lin" valueType="num">
                                      <p:cBhvr>
                                        <p:cTn id="71" dur="1000" fill="hold"/>
                                        <p:tgtEl>
                                          <p:spTgt spid="10">
                                            <p:txEl>
                                              <p:pRg st="7" end="7"/>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0">
                                            <p:txEl>
                                              <p:pRg st="8" end="8"/>
                                            </p:txEl>
                                          </p:spTgt>
                                        </p:tgtEl>
                                        <p:attrNameLst>
                                          <p:attrName>style.visibility</p:attrName>
                                        </p:attrNameLst>
                                      </p:cBhvr>
                                      <p:to>
                                        <p:strVal val="visible"/>
                                      </p:to>
                                    </p:set>
                                    <p:animEffect transition="in" filter="fade">
                                      <p:cBhvr>
                                        <p:cTn id="77" dur="1000"/>
                                        <p:tgtEl>
                                          <p:spTgt spid="10">
                                            <p:txEl>
                                              <p:pRg st="8" end="8"/>
                                            </p:txEl>
                                          </p:spTgt>
                                        </p:tgtEl>
                                      </p:cBhvr>
                                    </p:animEffect>
                                    <p:anim calcmode="lin" valueType="num">
                                      <p:cBhvr>
                                        <p:cTn id="78" dur="1000" fill="hold"/>
                                        <p:tgtEl>
                                          <p:spTgt spid="10">
                                            <p:txEl>
                                              <p:pRg st="8" end="8"/>
                                            </p:txEl>
                                          </p:spTgt>
                                        </p:tgtEl>
                                        <p:attrNameLst>
                                          <p:attrName>ppt_x</p:attrName>
                                        </p:attrNameLst>
                                      </p:cBhvr>
                                      <p:tavLst>
                                        <p:tav tm="0">
                                          <p:val>
                                            <p:strVal val="#ppt_x"/>
                                          </p:val>
                                        </p:tav>
                                        <p:tav tm="100000">
                                          <p:val>
                                            <p:strVal val="#ppt_x"/>
                                          </p:val>
                                        </p:tav>
                                      </p:tavLst>
                                    </p:anim>
                                    <p:anim calcmode="lin" valueType="num">
                                      <p:cBhvr>
                                        <p:cTn id="79" dur="1000" fill="hold"/>
                                        <p:tgtEl>
                                          <p:spTgt spid="10">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10">
                                            <p:txEl>
                                              <p:pRg st="9" end="9"/>
                                            </p:txEl>
                                          </p:spTgt>
                                        </p:tgtEl>
                                        <p:attrNameLst>
                                          <p:attrName>style.visibility</p:attrName>
                                        </p:attrNameLst>
                                      </p:cBhvr>
                                      <p:to>
                                        <p:strVal val="visible"/>
                                      </p:to>
                                    </p:set>
                                    <p:animEffect transition="in" filter="fade">
                                      <p:cBhvr>
                                        <p:cTn id="84" dur="1000"/>
                                        <p:tgtEl>
                                          <p:spTgt spid="10">
                                            <p:txEl>
                                              <p:pRg st="9" end="9"/>
                                            </p:txEl>
                                          </p:spTgt>
                                        </p:tgtEl>
                                      </p:cBhvr>
                                    </p:animEffect>
                                    <p:anim calcmode="lin" valueType="num">
                                      <p:cBhvr>
                                        <p:cTn id="85" dur="1000" fill="hold"/>
                                        <p:tgtEl>
                                          <p:spTgt spid="10">
                                            <p:txEl>
                                              <p:pRg st="9" end="9"/>
                                            </p:txEl>
                                          </p:spTgt>
                                        </p:tgtEl>
                                        <p:attrNameLst>
                                          <p:attrName>ppt_x</p:attrName>
                                        </p:attrNameLst>
                                      </p:cBhvr>
                                      <p:tavLst>
                                        <p:tav tm="0">
                                          <p:val>
                                            <p:strVal val="#ppt_x"/>
                                          </p:val>
                                        </p:tav>
                                        <p:tav tm="100000">
                                          <p:val>
                                            <p:strVal val="#ppt_x"/>
                                          </p:val>
                                        </p:tav>
                                      </p:tavLst>
                                    </p:anim>
                                    <p:anim calcmode="lin" valueType="num">
                                      <p:cBhvr>
                                        <p:cTn id="86" dur="1000" fill="hold"/>
                                        <p:tgtEl>
                                          <p:spTgt spid="10">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10">
                                            <p:txEl>
                                              <p:pRg st="10" end="10"/>
                                            </p:txEl>
                                          </p:spTgt>
                                        </p:tgtEl>
                                        <p:attrNameLst>
                                          <p:attrName>style.visibility</p:attrName>
                                        </p:attrNameLst>
                                      </p:cBhvr>
                                      <p:to>
                                        <p:strVal val="visible"/>
                                      </p:to>
                                    </p:set>
                                    <p:animEffect transition="in" filter="fade">
                                      <p:cBhvr>
                                        <p:cTn id="91" dur="1000"/>
                                        <p:tgtEl>
                                          <p:spTgt spid="10">
                                            <p:txEl>
                                              <p:pRg st="10" end="10"/>
                                            </p:txEl>
                                          </p:spTgt>
                                        </p:tgtEl>
                                      </p:cBhvr>
                                    </p:animEffect>
                                    <p:anim calcmode="lin" valueType="num">
                                      <p:cBhvr>
                                        <p:cTn id="92" dur="1000" fill="hold"/>
                                        <p:tgtEl>
                                          <p:spTgt spid="10">
                                            <p:txEl>
                                              <p:pRg st="10" end="10"/>
                                            </p:txEl>
                                          </p:spTgt>
                                        </p:tgtEl>
                                        <p:attrNameLst>
                                          <p:attrName>ppt_x</p:attrName>
                                        </p:attrNameLst>
                                      </p:cBhvr>
                                      <p:tavLst>
                                        <p:tav tm="0">
                                          <p:val>
                                            <p:strVal val="#ppt_x"/>
                                          </p:val>
                                        </p:tav>
                                        <p:tav tm="100000">
                                          <p:val>
                                            <p:strVal val="#ppt_x"/>
                                          </p:val>
                                        </p:tav>
                                      </p:tavLst>
                                    </p:anim>
                                    <p:anim calcmode="lin" valueType="num">
                                      <p:cBhvr>
                                        <p:cTn id="93" dur="1000" fill="hold"/>
                                        <p:tgtEl>
                                          <p:spTgt spid="10">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3" y="1431692"/>
            <a:ext cx="4749993" cy="5132393"/>
          </a:xfrm>
        </p:spPr>
        <p:txBody>
          <a:bodyPr>
            <a:normAutofit fontScale="85000" lnSpcReduction="20000"/>
          </a:bodyPr>
          <a:lstStyle/>
          <a:p>
            <a:pPr marL="0" indent="0">
              <a:buNone/>
            </a:pPr>
            <a:r>
              <a:rPr lang="en-IN" dirty="0" err="1"/>
              <a:t>plt.figure</a:t>
            </a:r>
            <a:r>
              <a:rPr lang="en-IN" dirty="0"/>
              <a:t>(</a:t>
            </a:r>
            <a:r>
              <a:rPr lang="en-IN" dirty="0" err="1"/>
              <a:t>figsize</a:t>
            </a:r>
            <a:r>
              <a:rPr lang="en-IN" dirty="0"/>
              <a:t>=(8, 5))</a:t>
            </a:r>
          </a:p>
          <a:p>
            <a:pPr marL="0" indent="0">
              <a:buNone/>
            </a:pPr>
            <a:r>
              <a:rPr lang="en-IN" dirty="0" err="1"/>
              <a:t>sns.scatterplot</a:t>
            </a:r>
            <a:r>
              <a:rPr lang="en-IN" dirty="0"/>
              <a:t>(data=</a:t>
            </a:r>
            <a:r>
              <a:rPr lang="en-IN" dirty="0" err="1"/>
              <a:t>df</a:t>
            </a:r>
            <a:r>
              <a:rPr lang="en-IN" dirty="0"/>
              <a:t>, x="</a:t>
            </a:r>
            <a:r>
              <a:rPr lang="en-IN" dirty="0" err="1"/>
              <a:t>Rainfall_mm</a:t>
            </a:r>
            <a:r>
              <a:rPr lang="en-IN" dirty="0"/>
              <a:t>", y="</a:t>
            </a:r>
            <a:r>
              <a:rPr lang="en-IN" dirty="0" err="1"/>
              <a:t>Yield_Tonnes_Ha</a:t>
            </a:r>
            <a:r>
              <a:rPr lang="en-IN" dirty="0"/>
              <a:t>", alpha=0.5)</a:t>
            </a:r>
          </a:p>
          <a:p>
            <a:pPr marL="0" indent="0">
              <a:buNone/>
            </a:pPr>
            <a:r>
              <a:rPr lang="en-IN" dirty="0" err="1"/>
              <a:t>plt.title</a:t>
            </a:r>
            <a:r>
              <a:rPr lang="en-IN" dirty="0"/>
              <a:t>("Rainfall vs Agricultural Yield")</a:t>
            </a:r>
          </a:p>
          <a:p>
            <a:pPr marL="0" indent="0">
              <a:buNone/>
            </a:pPr>
            <a:r>
              <a:rPr lang="en-IN" dirty="0" err="1"/>
              <a:t>plt.xlabel</a:t>
            </a:r>
            <a:r>
              <a:rPr lang="en-IN" dirty="0"/>
              <a:t>("Rainfall (mm)")</a:t>
            </a:r>
          </a:p>
          <a:p>
            <a:pPr marL="0" indent="0">
              <a:buNone/>
            </a:pPr>
            <a:r>
              <a:rPr lang="en-IN" dirty="0" err="1"/>
              <a:t>plt.ylabel</a:t>
            </a:r>
            <a:r>
              <a:rPr lang="en-IN" dirty="0"/>
              <a:t>("Yield (tonnes/ha)")</a:t>
            </a:r>
          </a:p>
          <a:p>
            <a:pPr marL="0" indent="0">
              <a:buNone/>
            </a:pPr>
            <a:r>
              <a:rPr lang="en-IN" dirty="0" err="1"/>
              <a:t>plt.tight_layout</a:t>
            </a:r>
            <a:r>
              <a:rPr lang="en-IN" dirty="0"/>
              <a:t>()</a:t>
            </a:r>
          </a:p>
          <a:p>
            <a:pPr marL="0" indent="0">
              <a:buNone/>
            </a:pPr>
            <a:r>
              <a:rPr lang="en-IN" dirty="0" err="1"/>
              <a:t>plt.show</a:t>
            </a:r>
            <a:r>
              <a:rPr lang="en-IN" dirty="0"/>
              <a:t>()</a:t>
            </a:r>
          </a:p>
          <a:p>
            <a:pPr marL="0" indent="0">
              <a:buNone/>
            </a:pPr>
            <a:endParaRPr lang="en-IN" dirty="0"/>
          </a:p>
          <a:p>
            <a:pPr lvl="0"/>
            <a:r>
              <a:rPr lang="en-IN" dirty="0"/>
              <a:t>This graph examines the relationship between rainfall and crop yield. </a:t>
            </a:r>
          </a:p>
          <a:p>
            <a:pPr lvl="0"/>
            <a:r>
              <a:rPr lang="en-IN" dirty="0"/>
              <a:t>Each point represents an individual farm record. </a:t>
            </a:r>
          </a:p>
          <a:p>
            <a:pPr lvl="0"/>
            <a:r>
              <a:rPr lang="en-IN" dirty="0"/>
              <a:t>A positive trend suggests that higher rainfall may contribute to increased yield. </a:t>
            </a:r>
          </a:p>
          <a:p>
            <a:pPr lvl="0"/>
            <a:r>
              <a:rPr lang="en-IN" dirty="0"/>
              <a:t>The plot helps identify patterns, clusters, and unusual observations.</a:t>
            </a:r>
          </a:p>
          <a:p>
            <a:pPr marL="0" indent="0">
              <a:buNone/>
            </a:pPr>
            <a:endParaRPr lang="en-IN" dirty="0"/>
          </a:p>
          <a:p>
            <a:pPr marL="0" indent="0">
              <a:buNone/>
            </a:pPr>
            <a:endParaRPr lang="en-IN" dirty="0"/>
          </a:p>
        </p:txBody>
      </p:sp>
      <p:pic>
        <p:nvPicPr>
          <p:cNvPr id="3" name="Picture 2">
            <a:extLst>
              <a:ext uri="{FF2B5EF4-FFF2-40B4-BE49-F238E27FC236}">
                <a16:creationId xmlns:a16="http://schemas.microsoft.com/office/drawing/2014/main" id="{F9C8B15D-5AFF-AD8F-2972-E18A597FD42D}"/>
              </a:ext>
            </a:extLst>
          </p:cNvPr>
          <p:cNvPicPr>
            <a:picLocks noChangeAspect="1"/>
          </p:cNvPicPr>
          <p:nvPr/>
        </p:nvPicPr>
        <p:blipFill>
          <a:blip r:embed="rId3"/>
          <a:stretch>
            <a:fillRect/>
          </a:stretch>
        </p:blipFill>
        <p:spPr>
          <a:xfrm>
            <a:off x="5613879" y="2373158"/>
            <a:ext cx="5560334" cy="3475209"/>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6" end="6"/>
                                            </p:txEl>
                                          </p:spTgt>
                                        </p:tgtEl>
                                        <p:attrNameLst>
                                          <p:attrName>style.visibility</p:attrName>
                                        </p:attrNameLst>
                                      </p:cBhvr>
                                      <p:to>
                                        <p:strVal val="visible"/>
                                      </p:to>
                                    </p:set>
                                    <p:animEffect transition="in" filter="fade">
                                      <p:cBhvr>
                                        <p:cTn id="70" dur="1000"/>
                                        <p:tgtEl>
                                          <p:spTgt spid="10">
                                            <p:txEl>
                                              <p:pRg st="6" end="6"/>
                                            </p:txEl>
                                          </p:spTgt>
                                        </p:tgtEl>
                                      </p:cBhvr>
                                    </p:animEffect>
                                    <p:anim calcmode="lin" valueType="num">
                                      <p:cBhvr>
                                        <p:cTn id="71"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0">
                                            <p:txEl>
                                              <p:pRg st="8" end="8"/>
                                            </p:txEl>
                                          </p:spTgt>
                                        </p:tgtEl>
                                        <p:attrNameLst>
                                          <p:attrName>style.visibility</p:attrName>
                                        </p:attrNameLst>
                                      </p:cBhvr>
                                      <p:to>
                                        <p:strVal val="visible"/>
                                      </p:to>
                                    </p:set>
                                    <p:animEffect transition="in" filter="fade">
                                      <p:cBhvr>
                                        <p:cTn id="77" dur="1000"/>
                                        <p:tgtEl>
                                          <p:spTgt spid="10">
                                            <p:txEl>
                                              <p:pRg st="8" end="8"/>
                                            </p:txEl>
                                          </p:spTgt>
                                        </p:tgtEl>
                                      </p:cBhvr>
                                    </p:animEffect>
                                    <p:anim calcmode="lin" valueType="num">
                                      <p:cBhvr>
                                        <p:cTn id="78" dur="1000" fill="hold"/>
                                        <p:tgtEl>
                                          <p:spTgt spid="10">
                                            <p:txEl>
                                              <p:pRg st="8" end="8"/>
                                            </p:txEl>
                                          </p:spTgt>
                                        </p:tgtEl>
                                        <p:attrNameLst>
                                          <p:attrName>ppt_x</p:attrName>
                                        </p:attrNameLst>
                                      </p:cBhvr>
                                      <p:tavLst>
                                        <p:tav tm="0">
                                          <p:val>
                                            <p:strVal val="#ppt_x"/>
                                          </p:val>
                                        </p:tav>
                                        <p:tav tm="100000">
                                          <p:val>
                                            <p:strVal val="#ppt_x"/>
                                          </p:val>
                                        </p:tav>
                                      </p:tavLst>
                                    </p:anim>
                                    <p:anim calcmode="lin" valueType="num">
                                      <p:cBhvr>
                                        <p:cTn id="79" dur="1000" fill="hold"/>
                                        <p:tgtEl>
                                          <p:spTgt spid="10">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10">
                                            <p:txEl>
                                              <p:pRg st="9" end="9"/>
                                            </p:txEl>
                                          </p:spTgt>
                                        </p:tgtEl>
                                        <p:attrNameLst>
                                          <p:attrName>style.visibility</p:attrName>
                                        </p:attrNameLst>
                                      </p:cBhvr>
                                      <p:to>
                                        <p:strVal val="visible"/>
                                      </p:to>
                                    </p:set>
                                    <p:animEffect transition="in" filter="fade">
                                      <p:cBhvr>
                                        <p:cTn id="84" dur="1000"/>
                                        <p:tgtEl>
                                          <p:spTgt spid="10">
                                            <p:txEl>
                                              <p:pRg st="9" end="9"/>
                                            </p:txEl>
                                          </p:spTgt>
                                        </p:tgtEl>
                                      </p:cBhvr>
                                    </p:animEffect>
                                    <p:anim calcmode="lin" valueType="num">
                                      <p:cBhvr>
                                        <p:cTn id="85" dur="1000" fill="hold"/>
                                        <p:tgtEl>
                                          <p:spTgt spid="10">
                                            <p:txEl>
                                              <p:pRg st="9" end="9"/>
                                            </p:txEl>
                                          </p:spTgt>
                                        </p:tgtEl>
                                        <p:attrNameLst>
                                          <p:attrName>ppt_x</p:attrName>
                                        </p:attrNameLst>
                                      </p:cBhvr>
                                      <p:tavLst>
                                        <p:tav tm="0">
                                          <p:val>
                                            <p:strVal val="#ppt_x"/>
                                          </p:val>
                                        </p:tav>
                                        <p:tav tm="100000">
                                          <p:val>
                                            <p:strVal val="#ppt_x"/>
                                          </p:val>
                                        </p:tav>
                                      </p:tavLst>
                                    </p:anim>
                                    <p:anim calcmode="lin" valueType="num">
                                      <p:cBhvr>
                                        <p:cTn id="86" dur="1000" fill="hold"/>
                                        <p:tgtEl>
                                          <p:spTgt spid="10">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10">
                                            <p:txEl>
                                              <p:pRg st="10" end="10"/>
                                            </p:txEl>
                                          </p:spTgt>
                                        </p:tgtEl>
                                        <p:attrNameLst>
                                          <p:attrName>style.visibility</p:attrName>
                                        </p:attrNameLst>
                                      </p:cBhvr>
                                      <p:to>
                                        <p:strVal val="visible"/>
                                      </p:to>
                                    </p:set>
                                    <p:animEffect transition="in" filter="fade">
                                      <p:cBhvr>
                                        <p:cTn id="91" dur="1000"/>
                                        <p:tgtEl>
                                          <p:spTgt spid="10">
                                            <p:txEl>
                                              <p:pRg st="10" end="10"/>
                                            </p:txEl>
                                          </p:spTgt>
                                        </p:tgtEl>
                                      </p:cBhvr>
                                    </p:animEffect>
                                    <p:anim calcmode="lin" valueType="num">
                                      <p:cBhvr>
                                        <p:cTn id="92" dur="1000" fill="hold"/>
                                        <p:tgtEl>
                                          <p:spTgt spid="10">
                                            <p:txEl>
                                              <p:pRg st="10" end="10"/>
                                            </p:txEl>
                                          </p:spTgt>
                                        </p:tgtEl>
                                        <p:attrNameLst>
                                          <p:attrName>ppt_x</p:attrName>
                                        </p:attrNameLst>
                                      </p:cBhvr>
                                      <p:tavLst>
                                        <p:tav tm="0">
                                          <p:val>
                                            <p:strVal val="#ppt_x"/>
                                          </p:val>
                                        </p:tav>
                                        <p:tav tm="100000">
                                          <p:val>
                                            <p:strVal val="#ppt_x"/>
                                          </p:val>
                                        </p:tav>
                                      </p:tavLst>
                                    </p:anim>
                                    <p:anim calcmode="lin" valueType="num">
                                      <p:cBhvr>
                                        <p:cTn id="93" dur="1000" fill="hold"/>
                                        <p:tgtEl>
                                          <p:spTgt spid="10">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10">
                                            <p:txEl>
                                              <p:pRg st="11" end="11"/>
                                            </p:txEl>
                                          </p:spTgt>
                                        </p:tgtEl>
                                        <p:attrNameLst>
                                          <p:attrName>style.visibility</p:attrName>
                                        </p:attrNameLst>
                                      </p:cBhvr>
                                      <p:to>
                                        <p:strVal val="visible"/>
                                      </p:to>
                                    </p:set>
                                    <p:animEffect transition="in" filter="fade">
                                      <p:cBhvr>
                                        <p:cTn id="98" dur="1000"/>
                                        <p:tgtEl>
                                          <p:spTgt spid="10">
                                            <p:txEl>
                                              <p:pRg st="11" end="11"/>
                                            </p:txEl>
                                          </p:spTgt>
                                        </p:tgtEl>
                                      </p:cBhvr>
                                    </p:animEffect>
                                    <p:anim calcmode="lin" valueType="num">
                                      <p:cBhvr>
                                        <p:cTn id="99" dur="1000" fill="hold"/>
                                        <p:tgtEl>
                                          <p:spTgt spid="10">
                                            <p:txEl>
                                              <p:pRg st="11" end="11"/>
                                            </p:txEl>
                                          </p:spTgt>
                                        </p:tgtEl>
                                        <p:attrNameLst>
                                          <p:attrName>ppt_x</p:attrName>
                                        </p:attrNameLst>
                                      </p:cBhvr>
                                      <p:tavLst>
                                        <p:tav tm="0">
                                          <p:val>
                                            <p:strVal val="#ppt_x"/>
                                          </p:val>
                                        </p:tav>
                                        <p:tav tm="100000">
                                          <p:val>
                                            <p:strVal val="#ppt_x"/>
                                          </p:val>
                                        </p:tav>
                                      </p:tavLst>
                                    </p:anim>
                                    <p:anim calcmode="lin" valueType="num">
                                      <p:cBhvr>
                                        <p:cTn id="100" dur="1000" fill="hold"/>
                                        <p:tgtEl>
                                          <p:spTgt spid="10">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3" y="1431692"/>
            <a:ext cx="5092893" cy="5233267"/>
          </a:xfrm>
        </p:spPr>
        <p:txBody>
          <a:bodyPr>
            <a:normAutofit fontScale="55000" lnSpcReduction="20000"/>
          </a:bodyPr>
          <a:lstStyle/>
          <a:p>
            <a:pPr marL="0" indent="0">
              <a:buNone/>
            </a:pPr>
            <a:r>
              <a:rPr lang="en-US" dirty="0"/>
              <a:t>[</a:t>
            </a:r>
            <a:r>
              <a:rPr lang="en-IN" dirty="0" err="1"/>
              <a:t>plt.figure</a:t>
            </a:r>
            <a:r>
              <a:rPr lang="en-IN" dirty="0"/>
              <a:t>(</a:t>
            </a:r>
            <a:r>
              <a:rPr lang="en-IN" dirty="0" err="1"/>
              <a:t>figsize</a:t>
            </a:r>
            <a:r>
              <a:rPr lang="en-IN" dirty="0"/>
              <a:t>=(16, 12))</a:t>
            </a:r>
          </a:p>
          <a:p>
            <a:pPr marL="0" indent="0">
              <a:buNone/>
            </a:pPr>
            <a:r>
              <a:rPr lang="en-IN" dirty="0" err="1"/>
              <a:t>corr</a:t>
            </a:r>
            <a:r>
              <a:rPr lang="en-IN" dirty="0"/>
              <a:t> = </a:t>
            </a:r>
            <a:r>
              <a:rPr lang="en-IN" dirty="0" err="1"/>
              <a:t>df</a:t>
            </a:r>
            <a:r>
              <a:rPr lang="en-IN" dirty="0"/>
              <a:t>[</a:t>
            </a:r>
            <a:r>
              <a:rPr lang="en-IN" dirty="0" err="1"/>
              <a:t>numeric_columns</a:t>
            </a:r>
            <a:r>
              <a:rPr lang="en-IN" dirty="0"/>
              <a:t>].</a:t>
            </a:r>
            <a:r>
              <a:rPr lang="en-IN" dirty="0" err="1"/>
              <a:t>corr</a:t>
            </a:r>
            <a:r>
              <a:rPr lang="en-IN" dirty="0"/>
              <a:t>(</a:t>
            </a:r>
            <a:r>
              <a:rPr lang="en-IN" dirty="0" err="1"/>
              <a:t>numeric_only</a:t>
            </a:r>
            <a:r>
              <a:rPr lang="en-IN" dirty="0"/>
              <a:t>=True)</a:t>
            </a:r>
          </a:p>
          <a:p>
            <a:pPr marL="0" indent="0">
              <a:buNone/>
            </a:pPr>
            <a:r>
              <a:rPr lang="en-IN" dirty="0" err="1"/>
              <a:t>sns.heatmap</a:t>
            </a:r>
            <a:r>
              <a:rPr lang="en-IN" dirty="0"/>
              <a:t>(</a:t>
            </a:r>
          </a:p>
          <a:p>
            <a:pPr marL="0" indent="0">
              <a:buNone/>
            </a:pPr>
            <a:r>
              <a:rPr lang="en-IN" dirty="0"/>
              <a:t>    </a:t>
            </a:r>
            <a:r>
              <a:rPr lang="en-IN" dirty="0" err="1"/>
              <a:t>corr</a:t>
            </a:r>
            <a:r>
              <a:rPr lang="en-IN" dirty="0"/>
              <a:t>,</a:t>
            </a:r>
          </a:p>
          <a:p>
            <a:pPr marL="0" indent="0">
              <a:buNone/>
            </a:pPr>
            <a:r>
              <a:rPr lang="en-IN" dirty="0"/>
              <a:t>    </a:t>
            </a:r>
            <a:r>
              <a:rPr lang="en-IN" dirty="0" err="1"/>
              <a:t>annot</a:t>
            </a:r>
            <a:r>
              <a:rPr lang="en-IN" dirty="0"/>
              <a:t>=True,</a:t>
            </a:r>
          </a:p>
          <a:p>
            <a:pPr marL="0" indent="0">
              <a:buNone/>
            </a:pPr>
            <a:r>
              <a:rPr lang="en-IN" dirty="0"/>
              <a:t>    </a:t>
            </a:r>
            <a:r>
              <a:rPr lang="en-IN" dirty="0" err="1"/>
              <a:t>fmt</a:t>
            </a:r>
            <a:r>
              <a:rPr lang="en-IN" dirty="0"/>
              <a:t>=".2f",</a:t>
            </a:r>
          </a:p>
          <a:p>
            <a:pPr marL="0" indent="0">
              <a:buNone/>
            </a:pPr>
            <a:r>
              <a:rPr lang="en-IN" dirty="0"/>
              <a:t>    </a:t>
            </a:r>
            <a:r>
              <a:rPr lang="en-IN" dirty="0" err="1"/>
              <a:t>cmap</a:t>
            </a:r>
            <a:r>
              <a:rPr lang="en-IN" dirty="0"/>
              <a:t>="</a:t>
            </a:r>
            <a:r>
              <a:rPr lang="en-IN" dirty="0" err="1"/>
              <a:t>coolwarm</a:t>
            </a:r>
            <a:r>
              <a:rPr lang="en-IN" dirty="0"/>
              <a:t>",</a:t>
            </a:r>
          </a:p>
          <a:p>
            <a:pPr marL="0" indent="0">
              <a:buNone/>
            </a:pPr>
            <a:r>
              <a:rPr lang="en-IN" dirty="0"/>
              <a:t>    </a:t>
            </a:r>
            <a:r>
              <a:rPr lang="en-IN" dirty="0" err="1"/>
              <a:t>center</a:t>
            </a:r>
            <a:r>
              <a:rPr lang="en-IN" dirty="0"/>
              <a:t>=0,</a:t>
            </a:r>
          </a:p>
          <a:p>
            <a:pPr marL="0" indent="0">
              <a:buNone/>
            </a:pPr>
            <a:r>
              <a:rPr lang="en-IN" dirty="0"/>
              <a:t>    linewidths=0.5</a:t>
            </a:r>
          </a:p>
          <a:p>
            <a:pPr marL="0" indent="0">
              <a:buNone/>
            </a:pPr>
            <a:r>
              <a:rPr lang="en-IN" dirty="0"/>
              <a:t>)</a:t>
            </a:r>
          </a:p>
          <a:p>
            <a:pPr marL="0" indent="0">
              <a:buNone/>
            </a:pPr>
            <a:r>
              <a:rPr lang="en-IN" dirty="0" err="1"/>
              <a:t>plt.title</a:t>
            </a:r>
            <a:r>
              <a:rPr lang="en-IN" dirty="0"/>
              <a:t>("Correlation Matrix of Numerical Variables")</a:t>
            </a:r>
          </a:p>
          <a:p>
            <a:pPr marL="0" indent="0">
              <a:buNone/>
            </a:pPr>
            <a:r>
              <a:rPr lang="en-IN" dirty="0" err="1"/>
              <a:t>plt.tight_layout</a:t>
            </a:r>
            <a:r>
              <a:rPr lang="en-IN" dirty="0"/>
              <a:t>()</a:t>
            </a:r>
          </a:p>
          <a:p>
            <a:pPr marL="0" indent="0">
              <a:buNone/>
            </a:pPr>
            <a:r>
              <a:rPr lang="en-IN" dirty="0" err="1"/>
              <a:t>plt.show</a:t>
            </a:r>
            <a:r>
              <a:rPr lang="en-IN" dirty="0"/>
              <a:t>()</a:t>
            </a:r>
          </a:p>
          <a:p>
            <a:pPr marL="0" indent="0">
              <a:buNone/>
            </a:pPr>
            <a:endParaRPr lang="en-IN" dirty="0"/>
          </a:p>
          <a:p>
            <a:pPr lvl="0"/>
            <a:r>
              <a:rPr lang="en-IN" dirty="0"/>
              <a:t>The heatmap displays correlation coefficients between numerical variables. </a:t>
            </a:r>
          </a:p>
          <a:p>
            <a:pPr lvl="0"/>
            <a:r>
              <a:rPr lang="en-IN" dirty="0"/>
              <a:t>Values close to +1 indicate strong positive relationships, while values close to -1 indicate strong negative relationships. </a:t>
            </a:r>
          </a:p>
          <a:p>
            <a:pPr lvl="0"/>
            <a:r>
              <a:rPr lang="en-IN" dirty="0"/>
              <a:t>Darker </a:t>
            </a:r>
            <a:r>
              <a:rPr lang="en-IN" dirty="0" err="1"/>
              <a:t>colors</a:t>
            </a:r>
            <a:r>
              <a:rPr lang="en-IN" dirty="0"/>
              <a:t> represent stronger correlations. </a:t>
            </a:r>
          </a:p>
          <a:p>
            <a:pPr lvl="0"/>
            <a:r>
              <a:rPr lang="en-IN" dirty="0"/>
              <a:t>This analysis helps identify factors that significantly influence agricultural performance.</a:t>
            </a:r>
          </a:p>
          <a:p>
            <a:pPr marL="0" indent="0">
              <a:buNone/>
            </a:pPr>
            <a:endParaRPr lang="en-IN" dirty="0"/>
          </a:p>
        </p:txBody>
      </p:sp>
      <p:pic>
        <p:nvPicPr>
          <p:cNvPr id="3" name="Picture 2">
            <a:extLst>
              <a:ext uri="{FF2B5EF4-FFF2-40B4-BE49-F238E27FC236}">
                <a16:creationId xmlns:a16="http://schemas.microsoft.com/office/drawing/2014/main" id="{E704F657-623C-4F32-75B0-381DCD7F245A}"/>
              </a:ext>
            </a:extLst>
          </p:cNvPr>
          <p:cNvPicPr>
            <a:picLocks noChangeAspect="1"/>
          </p:cNvPicPr>
          <p:nvPr/>
        </p:nvPicPr>
        <p:blipFill>
          <a:blip r:embed="rId3"/>
          <a:stretch>
            <a:fillRect/>
          </a:stretch>
        </p:blipFill>
        <p:spPr>
          <a:xfrm>
            <a:off x="6096000" y="2476500"/>
            <a:ext cx="6012196" cy="304598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6" end="6"/>
                                            </p:txEl>
                                          </p:spTgt>
                                        </p:tgtEl>
                                        <p:attrNameLst>
                                          <p:attrName>style.visibility</p:attrName>
                                        </p:attrNameLst>
                                      </p:cBhvr>
                                      <p:to>
                                        <p:strVal val="visible"/>
                                      </p:to>
                                    </p:set>
                                    <p:animEffect transition="in" filter="fade">
                                      <p:cBhvr>
                                        <p:cTn id="70" dur="1000"/>
                                        <p:tgtEl>
                                          <p:spTgt spid="10">
                                            <p:txEl>
                                              <p:pRg st="6" end="6"/>
                                            </p:txEl>
                                          </p:spTgt>
                                        </p:tgtEl>
                                      </p:cBhvr>
                                    </p:animEffect>
                                    <p:anim calcmode="lin" valueType="num">
                                      <p:cBhvr>
                                        <p:cTn id="71"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0">
                                            <p:txEl>
                                              <p:pRg st="7" end="7"/>
                                            </p:txEl>
                                          </p:spTgt>
                                        </p:tgtEl>
                                        <p:attrNameLst>
                                          <p:attrName>style.visibility</p:attrName>
                                        </p:attrNameLst>
                                      </p:cBhvr>
                                      <p:to>
                                        <p:strVal val="visible"/>
                                      </p:to>
                                    </p:set>
                                    <p:animEffect transition="in" filter="fade">
                                      <p:cBhvr>
                                        <p:cTn id="77" dur="1000"/>
                                        <p:tgtEl>
                                          <p:spTgt spid="10">
                                            <p:txEl>
                                              <p:pRg st="7" end="7"/>
                                            </p:txEl>
                                          </p:spTgt>
                                        </p:tgtEl>
                                      </p:cBhvr>
                                    </p:animEffect>
                                    <p:anim calcmode="lin" valueType="num">
                                      <p:cBhvr>
                                        <p:cTn id="78" dur="1000" fill="hold"/>
                                        <p:tgtEl>
                                          <p:spTgt spid="10">
                                            <p:txEl>
                                              <p:pRg st="7" end="7"/>
                                            </p:txEl>
                                          </p:spTgt>
                                        </p:tgtEl>
                                        <p:attrNameLst>
                                          <p:attrName>ppt_x</p:attrName>
                                        </p:attrNameLst>
                                      </p:cBhvr>
                                      <p:tavLst>
                                        <p:tav tm="0">
                                          <p:val>
                                            <p:strVal val="#ppt_x"/>
                                          </p:val>
                                        </p:tav>
                                        <p:tav tm="100000">
                                          <p:val>
                                            <p:strVal val="#ppt_x"/>
                                          </p:val>
                                        </p:tav>
                                      </p:tavLst>
                                    </p:anim>
                                    <p:anim calcmode="lin" valueType="num">
                                      <p:cBhvr>
                                        <p:cTn id="79" dur="1000" fill="hold"/>
                                        <p:tgtEl>
                                          <p:spTgt spid="10">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10">
                                            <p:txEl>
                                              <p:pRg st="8" end="8"/>
                                            </p:txEl>
                                          </p:spTgt>
                                        </p:tgtEl>
                                        <p:attrNameLst>
                                          <p:attrName>style.visibility</p:attrName>
                                        </p:attrNameLst>
                                      </p:cBhvr>
                                      <p:to>
                                        <p:strVal val="visible"/>
                                      </p:to>
                                    </p:set>
                                    <p:animEffect transition="in" filter="fade">
                                      <p:cBhvr>
                                        <p:cTn id="84" dur="1000"/>
                                        <p:tgtEl>
                                          <p:spTgt spid="10">
                                            <p:txEl>
                                              <p:pRg st="8" end="8"/>
                                            </p:txEl>
                                          </p:spTgt>
                                        </p:tgtEl>
                                      </p:cBhvr>
                                    </p:animEffect>
                                    <p:anim calcmode="lin" valueType="num">
                                      <p:cBhvr>
                                        <p:cTn id="85" dur="1000" fill="hold"/>
                                        <p:tgtEl>
                                          <p:spTgt spid="10">
                                            <p:txEl>
                                              <p:pRg st="8" end="8"/>
                                            </p:txEl>
                                          </p:spTgt>
                                        </p:tgtEl>
                                        <p:attrNameLst>
                                          <p:attrName>ppt_x</p:attrName>
                                        </p:attrNameLst>
                                      </p:cBhvr>
                                      <p:tavLst>
                                        <p:tav tm="0">
                                          <p:val>
                                            <p:strVal val="#ppt_x"/>
                                          </p:val>
                                        </p:tav>
                                        <p:tav tm="100000">
                                          <p:val>
                                            <p:strVal val="#ppt_x"/>
                                          </p:val>
                                        </p:tav>
                                      </p:tavLst>
                                    </p:anim>
                                    <p:anim calcmode="lin" valueType="num">
                                      <p:cBhvr>
                                        <p:cTn id="86" dur="1000" fill="hold"/>
                                        <p:tgtEl>
                                          <p:spTgt spid="10">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10">
                                            <p:txEl>
                                              <p:pRg st="9" end="9"/>
                                            </p:txEl>
                                          </p:spTgt>
                                        </p:tgtEl>
                                        <p:attrNameLst>
                                          <p:attrName>style.visibility</p:attrName>
                                        </p:attrNameLst>
                                      </p:cBhvr>
                                      <p:to>
                                        <p:strVal val="visible"/>
                                      </p:to>
                                    </p:set>
                                    <p:animEffect transition="in" filter="fade">
                                      <p:cBhvr>
                                        <p:cTn id="91" dur="1000"/>
                                        <p:tgtEl>
                                          <p:spTgt spid="10">
                                            <p:txEl>
                                              <p:pRg st="9" end="9"/>
                                            </p:txEl>
                                          </p:spTgt>
                                        </p:tgtEl>
                                      </p:cBhvr>
                                    </p:animEffect>
                                    <p:anim calcmode="lin" valueType="num">
                                      <p:cBhvr>
                                        <p:cTn id="92" dur="1000" fill="hold"/>
                                        <p:tgtEl>
                                          <p:spTgt spid="10">
                                            <p:txEl>
                                              <p:pRg st="9" end="9"/>
                                            </p:txEl>
                                          </p:spTgt>
                                        </p:tgtEl>
                                        <p:attrNameLst>
                                          <p:attrName>ppt_x</p:attrName>
                                        </p:attrNameLst>
                                      </p:cBhvr>
                                      <p:tavLst>
                                        <p:tav tm="0">
                                          <p:val>
                                            <p:strVal val="#ppt_x"/>
                                          </p:val>
                                        </p:tav>
                                        <p:tav tm="100000">
                                          <p:val>
                                            <p:strVal val="#ppt_x"/>
                                          </p:val>
                                        </p:tav>
                                      </p:tavLst>
                                    </p:anim>
                                    <p:anim calcmode="lin" valueType="num">
                                      <p:cBhvr>
                                        <p:cTn id="93" dur="1000" fill="hold"/>
                                        <p:tgtEl>
                                          <p:spTgt spid="10">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10">
                                            <p:txEl>
                                              <p:pRg st="10" end="10"/>
                                            </p:txEl>
                                          </p:spTgt>
                                        </p:tgtEl>
                                        <p:attrNameLst>
                                          <p:attrName>style.visibility</p:attrName>
                                        </p:attrNameLst>
                                      </p:cBhvr>
                                      <p:to>
                                        <p:strVal val="visible"/>
                                      </p:to>
                                    </p:set>
                                    <p:animEffect transition="in" filter="fade">
                                      <p:cBhvr>
                                        <p:cTn id="98" dur="1000"/>
                                        <p:tgtEl>
                                          <p:spTgt spid="10">
                                            <p:txEl>
                                              <p:pRg st="10" end="10"/>
                                            </p:txEl>
                                          </p:spTgt>
                                        </p:tgtEl>
                                      </p:cBhvr>
                                    </p:animEffect>
                                    <p:anim calcmode="lin" valueType="num">
                                      <p:cBhvr>
                                        <p:cTn id="99" dur="1000" fill="hold"/>
                                        <p:tgtEl>
                                          <p:spTgt spid="10">
                                            <p:txEl>
                                              <p:pRg st="10" end="10"/>
                                            </p:txEl>
                                          </p:spTgt>
                                        </p:tgtEl>
                                        <p:attrNameLst>
                                          <p:attrName>ppt_x</p:attrName>
                                        </p:attrNameLst>
                                      </p:cBhvr>
                                      <p:tavLst>
                                        <p:tav tm="0">
                                          <p:val>
                                            <p:strVal val="#ppt_x"/>
                                          </p:val>
                                        </p:tav>
                                        <p:tav tm="100000">
                                          <p:val>
                                            <p:strVal val="#ppt_x"/>
                                          </p:val>
                                        </p:tav>
                                      </p:tavLst>
                                    </p:anim>
                                    <p:anim calcmode="lin" valueType="num">
                                      <p:cBhvr>
                                        <p:cTn id="100" dur="1000" fill="hold"/>
                                        <p:tgtEl>
                                          <p:spTgt spid="10">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10">
                                            <p:txEl>
                                              <p:pRg st="11" end="11"/>
                                            </p:txEl>
                                          </p:spTgt>
                                        </p:tgtEl>
                                        <p:attrNameLst>
                                          <p:attrName>style.visibility</p:attrName>
                                        </p:attrNameLst>
                                      </p:cBhvr>
                                      <p:to>
                                        <p:strVal val="visible"/>
                                      </p:to>
                                    </p:set>
                                    <p:animEffect transition="in" filter="fade">
                                      <p:cBhvr>
                                        <p:cTn id="105" dur="1000"/>
                                        <p:tgtEl>
                                          <p:spTgt spid="10">
                                            <p:txEl>
                                              <p:pRg st="11" end="11"/>
                                            </p:txEl>
                                          </p:spTgt>
                                        </p:tgtEl>
                                      </p:cBhvr>
                                    </p:animEffect>
                                    <p:anim calcmode="lin" valueType="num">
                                      <p:cBhvr>
                                        <p:cTn id="106" dur="1000" fill="hold"/>
                                        <p:tgtEl>
                                          <p:spTgt spid="10">
                                            <p:txEl>
                                              <p:pRg st="11" end="11"/>
                                            </p:txEl>
                                          </p:spTgt>
                                        </p:tgtEl>
                                        <p:attrNameLst>
                                          <p:attrName>ppt_x</p:attrName>
                                        </p:attrNameLst>
                                      </p:cBhvr>
                                      <p:tavLst>
                                        <p:tav tm="0">
                                          <p:val>
                                            <p:strVal val="#ppt_x"/>
                                          </p:val>
                                        </p:tav>
                                        <p:tav tm="100000">
                                          <p:val>
                                            <p:strVal val="#ppt_x"/>
                                          </p:val>
                                        </p:tav>
                                      </p:tavLst>
                                    </p:anim>
                                    <p:anim calcmode="lin" valueType="num">
                                      <p:cBhvr>
                                        <p:cTn id="107" dur="1000" fill="hold"/>
                                        <p:tgtEl>
                                          <p:spTgt spid="10">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10">
                                            <p:txEl>
                                              <p:pRg st="12" end="12"/>
                                            </p:txEl>
                                          </p:spTgt>
                                        </p:tgtEl>
                                        <p:attrNameLst>
                                          <p:attrName>style.visibility</p:attrName>
                                        </p:attrNameLst>
                                      </p:cBhvr>
                                      <p:to>
                                        <p:strVal val="visible"/>
                                      </p:to>
                                    </p:set>
                                    <p:animEffect transition="in" filter="fade">
                                      <p:cBhvr>
                                        <p:cTn id="112" dur="1000"/>
                                        <p:tgtEl>
                                          <p:spTgt spid="10">
                                            <p:txEl>
                                              <p:pRg st="12" end="12"/>
                                            </p:txEl>
                                          </p:spTgt>
                                        </p:tgtEl>
                                      </p:cBhvr>
                                    </p:animEffect>
                                    <p:anim calcmode="lin" valueType="num">
                                      <p:cBhvr>
                                        <p:cTn id="113" dur="1000" fill="hold"/>
                                        <p:tgtEl>
                                          <p:spTgt spid="10">
                                            <p:txEl>
                                              <p:pRg st="12" end="12"/>
                                            </p:txEl>
                                          </p:spTgt>
                                        </p:tgtEl>
                                        <p:attrNameLst>
                                          <p:attrName>ppt_x</p:attrName>
                                        </p:attrNameLst>
                                      </p:cBhvr>
                                      <p:tavLst>
                                        <p:tav tm="0">
                                          <p:val>
                                            <p:strVal val="#ppt_x"/>
                                          </p:val>
                                        </p:tav>
                                        <p:tav tm="100000">
                                          <p:val>
                                            <p:strVal val="#ppt_x"/>
                                          </p:val>
                                        </p:tav>
                                      </p:tavLst>
                                    </p:anim>
                                    <p:anim calcmode="lin" valueType="num">
                                      <p:cBhvr>
                                        <p:cTn id="114" dur="1000" fill="hold"/>
                                        <p:tgtEl>
                                          <p:spTgt spid="10">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10">
                                            <p:txEl>
                                              <p:pRg st="14" end="14"/>
                                            </p:txEl>
                                          </p:spTgt>
                                        </p:tgtEl>
                                        <p:attrNameLst>
                                          <p:attrName>style.visibility</p:attrName>
                                        </p:attrNameLst>
                                      </p:cBhvr>
                                      <p:to>
                                        <p:strVal val="visible"/>
                                      </p:to>
                                    </p:set>
                                    <p:animEffect transition="in" filter="fade">
                                      <p:cBhvr>
                                        <p:cTn id="119" dur="1000"/>
                                        <p:tgtEl>
                                          <p:spTgt spid="10">
                                            <p:txEl>
                                              <p:pRg st="14" end="14"/>
                                            </p:txEl>
                                          </p:spTgt>
                                        </p:tgtEl>
                                      </p:cBhvr>
                                    </p:animEffect>
                                    <p:anim calcmode="lin" valueType="num">
                                      <p:cBhvr>
                                        <p:cTn id="120" dur="1000" fill="hold"/>
                                        <p:tgtEl>
                                          <p:spTgt spid="10">
                                            <p:txEl>
                                              <p:pRg st="14" end="14"/>
                                            </p:txEl>
                                          </p:spTgt>
                                        </p:tgtEl>
                                        <p:attrNameLst>
                                          <p:attrName>ppt_x</p:attrName>
                                        </p:attrNameLst>
                                      </p:cBhvr>
                                      <p:tavLst>
                                        <p:tav tm="0">
                                          <p:val>
                                            <p:strVal val="#ppt_x"/>
                                          </p:val>
                                        </p:tav>
                                        <p:tav tm="100000">
                                          <p:val>
                                            <p:strVal val="#ppt_x"/>
                                          </p:val>
                                        </p:tav>
                                      </p:tavLst>
                                    </p:anim>
                                    <p:anim calcmode="lin" valueType="num">
                                      <p:cBhvr>
                                        <p:cTn id="121" dur="1000" fill="hold"/>
                                        <p:tgtEl>
                                          <p:spTgt spid="10">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grpId="0" nodeType="clickEffect">
                                  <p:stCondLst>
                                    <p:cond delay="0"/>
                                  </p:stCondLst>
                                  <p:childTnLst>
                                    <p:set>
                                      <p:cBhvr>
                                        <p:cTn id="125" dur="1" fill="hold">
                                          <p:stCondLst>
                                            <p:cond delay="0"/>
                                          </p:stCondLst>
                                        </p:cTn>
                                        <p:tgtEl>
                                          <p:spTgt spid="10">
                                            <p:txEl>
                                              <p:pRg st="15" end="15"/>
                                            </p:txEl>
                                          </p:spTgt>
                                        </p:tgtEl>
                                        <p:attrNameLst>
                                          <p:attrName>style.visibility</p:attrName>
                                        </p:attrNameLst>
                                      </p:cBhvr>
                                      <p:to>
                                        <p:strVal val="visible"/>
                                      </p:to>
                                    </p:set>
                                    <p:animEffect transition="in" filter="fade">
                                      <p:cBhvr>
                                        <p:cTn id="126" dur="1000"/>
                                        <p:tgtEl>
                                          <p:spTgt spid="10">
                                            <p:txEl>
                                              <p:pRg st="15" end="15"/>
                                            </p:txEl>
                                          </p:spTgt>
                                        </p:tgtEl>
                                      </p:cBhvr>
                                    </p:animEffect>
                                    <p:anim calcmode="lin" valueType="num">
                                      <p:cBhvr>
                                        <p:cTn id="127" dur="1000" fill="hold"/>
                                        <p:tgtEl>
                                          <p:spTgt spid="10">
                                            <p:txEl>
                                              <p:pRg st="15" end="15"/>
                                            </p:txEl>
                                          </p:spTgt>
                                        </p:tgtEl>
                                        <p:attrNameLst>
                                          <p:attrName>ppt_x</p:attrName>
                                        </p:attrNameLst>
                                      </p:cBhvr>
                                      <p:tavLst>
                                        <p:tav tm="0">
                                          <p:val>
                                            <p:strVal val="#ppt_x"/>
                                          </p:val>
                                        </p:tav>
                                        <p:tav tm="100000">
                                          <p:val>
                                            <p:strVal val="#ppt_x"/>
                                          </p:val>
                                        </p:tav>
                                      </p:tavLst>
                                    </p:anim>
                                    <p:anim calcmode="lin" valueType="num">
                                      <p:cBhvr>
                                        <p:cTn id="128" dur="1000" fill="hold"/>
                                        <p:tgtEl>
                                          <p:spTgt spid="10">
                                            <p:txEl>
                                              <p:pRg st="15" end="15"/>
                                            </p:txEl>
                                          </p:spTgt>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grpId="0" nodeType="clickEffect">
                                  <p:stCondLst>
                                    <p:cond delay="0"/>
                                  </p:stCondLst>
                                  <p:childTnLst>
                                    <p:set>
                                      <p:cBhvr>
                                        <p:cTn id="132" dur="1" fill="hold">
                                          <p:stCondLst>
                                            <p:cond delay="0"/>
                                          </p:stCondLst>
                                        </p:cTn>
                                        <p:tgtEl>
                                          <p:spTgt spid="10">
                                            <p:txEl>
                                              <p:pRg st="16" end="16"/>
                                            </p:txEl>
                                          </p:spTgt>
                                        </p:tgtEl>
                                        <p:attrNameLst>
                                          <p:attrName>style.visibility</p:attrName>
                                        </p:attrNameLst>
                                      </p:cBhvr>
                                      <p:to>
                                        <p:strVal val="visible"/>
                                      </p:to>
                                    </p:set>
                                    <p:animEffect transition="in" filter="fade">
                                      <p:cBhvr>
                                        <p:cTn id="133" dur="1000"/>
                                        <p:tgtEl>
                                          <p:spTgt spid="10">
                                            <p:txEl>
                                              <p:pRg st="16" end="16"/>
                                            </p:txEl>
                                          </p:spTgt>
                                        </p:tgtEl>
                                      </p:cBhvr>
                                    </p:animEffect>
                                    <p:anim calcmode="lin" valueType="num">
                                      <p:cBhvr>
                                        <p:cTn id="134" dur="1000" fill="hold"/>
                                        <p:tgtEl>
                                          <p:spTgt spid="10">
                                            <p:txEl>
                                              <p:pRg st="16" end="16"/>
                                            </p:txEl>
                                          </p:spTgt>
                                        </p:tgtEl>
                                        <p:attrNameLst>
                                          <p:attrName>ppt_x</p:attrName>
                                        </p:attrNameLst>
                                      </p:cBhvr>
                                      <p:tavLst>
                                        <p:tav tm="0">
                                          <p:val>
                                            <p:strVal val="#ppt_x"/>
                                          </p:val>
                                        </p:tav>
                                        <p:tav tm="100000">
                                          <p:val>
                                            <p:strVal val="#ppt_x"/>
                                          </p:val>
                                        </p:tav>
                                      </p:tavLst>
                                    </p:anim>
                                    <p:anim calcmode="lin" valueType="num">
                                      <p:cBhvr>
                                        <p:cTn id="135" dur="1000" fill="hold"/>
                                        <p:tgtEl>
                                          <p:spTgt spid="10">
                                            <p:txEl>
                                              <p:pRg st="16" end="16"/>
                                            </p:txEl>
                                          </p:spTgt>
                                        </p:tgtEl>
                                        <p:attrNameLst>
                                          <p:attrName>ppt_y</p:attrName>
                                        </p:attrNameLst>
                                      </p:cBhvr>
                                      <p:tavLst>
                                        <p:tav tm="0">
                                          <p:val>
                                            <p:strVal val="#ppt_y+.1"/>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42" presetClass="entr" presetSubtype="0" fill="hold" grpId="0" nodeType="clickEffect">
                                  <p:stCondLst>
                                    <p:cond delay="0"/>
                                  </p:stCondLst>
                                  <p:childTnLst>
                                    <p:set>
                                      <p:cBhvr>
                                        <p:cTn id="139" dur="1" fill="hold">
                                          <p:stCondLst>
                                            <p:cond delay="0"/>
                                          </p:stCondLst>
                                        </p:cTn>
                                        <p:tgtEl>
                                          <p:spTgt spid="10">
                                            <p:txEl>
                                              <p:pRg st="17" end="17"/>
                                            </p:txEl>
                                          </p:spTgt>
                                        </p:tgtEl>
                                        <p:attrNameLst>
                                          <p:attrName>style.visibility</p:attrName>
                                        </p:attrNameLst>
                                      </p:cBhvr>
                                      <p:to>
                                        <p:strVal val="visible"/>
                                      </p:to>
                                    </p:set>
                                    <p:animEffect transition="in" filter="fade">
                                      <p:cBhvr>
                                        <p:cTn id="140" dur="1000"/>
                                        <p:tgtEl>
                                          <p:spTgt spid="10">
                                            <p:txEl>
                                              <p:pRg st="17" end="17"/>
                                            </p:txEl>
                                          </p:spTgt>
                                        </p:tgtEl>
                                      </p:cBhvr>
                                    </p:animEffect>
                                    <p:anim calcmode="lin" valueType="num">
                                      <p:cBhvr>
                                        <p:cTn id="141" dur="1000" fill="hold"/>
                                        <p:tgtEl>
                                          <p:spTgt spid="10">
                                            <p:txEl>
                                              <p:pRg st="17" end="17"/>
                                            </p:txEl>
                                          </p:spTgt>
                                        </p:tgtEl>
                                        <p:attrNameLst>
                                          <p:attrName>ppt_x</p:attrName>
                                        </p:attrNameLst>
                                      </p:cBhvr>
                                      <p:tavLst>
                                        <p:tav tm="0">
                                          <p:val>
                                            <p:strVal val="#ppt_x"/>
                                          </p:val>
                                        </p:tav>
                                        <p:tav tm="100000">
                                          <p:val>
                                            <p:strVal val="#ppt_x"/>
                                          </p:val>
                                        </p:tav>
                                      </p:tavLst>
                                    </p:anim>
                                    <p:anim calcmode="lin" valueType="num">
                                      <p:cBhvr>
                                        <p:cTn id="142" dur="1000" fill="hold"/>
                                        <p:tgtEl>
                                          <p:spTgt spid="10">
                                            <p:txEl>
                                              <p:pRg st="17" end="1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2FF13A8C-F0A5-07C8-1227-C86CC5DF3BE8}"/>
              </a:ext>
            </a:extLst>
          </p:cNvPr>
          <p:cNvPicPr>
            <a:picLocks noGrp="1" noChangeAspect="1"/>
          </p:cNvPicPr>
          <p:nvPr>
            <p:ph type="pic" idx="1"/>
          </p:nvPr>
        </p:nvPicPr>
        <p:blipFill>
          <a:blip r:embed="rId2"/>
          <a:srcRect t="12764" b="12764"/>
          <a:stretch>
            <a:fillRect/>
          </a:stretch>
        </p:blipFill>
        <p:spPr>
          <a:xfrm>
            <a:off x="6281057" y="2849047"/>
            <a:ext cx="4995915" cy="2234921"/>
          </a:xfrm>
          <a:prstGeom prst="rect">
            <a:avLst/>
          </a:prstGeom>
        </p:spPr>
      </p:pic>
      <p:sp>
        <p:nvSpPr>
          <p:cNvPr id="4" name="Text Placeholder 3">
            <a:extLst>
              <a:ext uri="{FF2B5EF4-FFF2-40B4-BE49-F238E27FC236}">
                <a16:creationId xmlns:a16="http://schemas.microsoft.com/office/drawing/2014/main" id="{D129A16B-EE41-08C7-4F58-D375EFBABA38}"/>
              </a:ext>
            </a:extLst>
          </p:cNvPr>
          <p:cNvSpPr>
            <a:spLocks noGrp="1"/>
          </p:cNvSpPr>
          <p:nvPr>
            <p:ph type="body" sz="half" idx="2"/>
          </p:nvPr>
        </p:nvSpPr>
        <p:spPr>
          <a:xfrm>
            <a:off x="606578" y="2319148"/>
            <a:ext cx="5075766" cy="4538852"/>
          </a:xfrm>
        </p:spPr>
        <p:txBody>
          <a:bodyPr/>
          <a:lstStyle/>
          <a:p>
            <a:pPr lvl="0"/>
            <a:r>
              <a:rPr lang="en-IN" sz="1800" dirty="0"/>
              <a:t>This graph simultaneously analyses yield, profit, season, and farm area. </a:t>
            </a:r>
          </a:p>
          <a:p>
            <a:pPr lvl="0"/>
            <a:r>
              <a:rPr lang="en-IN" sz="1800" dirty="0"/>
              <a:t>Different colours represent seasons, while point size indicates farm area. </a:t>
            </a:r>
          </a:p>
          <a:p>
            <a:pPr lvl="0"/>
            <a:r>
              <a:rPr lang="en-IN" sz="1800" dirty="0"/>
              <a:t>Higher yields are generally associated with higher profits. </a:t>
            </a:r>
          </a:p>
          <a:p>
            <a:pPr lvl="0"/>
            <a:r>
              <a:rPr lang="en-IN" sz="1800" dirty="0"/>
              <a:t>The visualization helps compare seasonal performance and understand the combined impact of multiple factors. </a:t>
            </a:r>
          </a:p>
          <a:p>
            <a:endParaRPr lang="en-IN" dirty="0"/>
          </a:p>
        </p:txBody>
      </p:sp>
      <p:sp>
        <p:nvSpPr>
          <p:cNvPr id="5" name="Slide Number Placeholder 4">
            <a:extLst>
              <a:ext uri="{FF2B5EF4-FFF2-40B4-BE49-F238E27FC236}">
                <a16:creationId xmlns:a16="http://schemas.microsoft.com/office/drawing/2014/main" id="{A7802130-95D5-50EA-D91D-2FECB0028E9E}"/>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
        <p:nvSpPr>
          <p:cNvPr id="11" name="TextBox 10">
            <a:extLst>
              <a:ext uri="{FF2B5EF4-FFF2-40B4-BE49-F238E27FC236}">
                <a16:creationId xmlns:a16="http://schemas.microsoft.com/office/drawing/2014/main" id="{FBEBC88A-9E41-65DD-FAD0-4289B13EF357}"/>
              </a:ext>
            </a:extLst>
          </p:cNvPr>
          <p:cNvSpPr txBox="1"/>
          <p:nvPr/>
        </p:nvSpPr>
        <p:spPr>
          <a:xfrm>
            <a:off x="606578" y="946255"/>
            <a:ext cx="6098720" cy="830997"/>
          </a:xfrm>
          <a:prstGeom prst="rect">
            <a:avLst/>
          </a:prstGeom>
          <a:noFill/>
        </p:spPr>
        <p:txBody>
          <a:bodyPr wrap="square">
            <a:spAutoFit/>
          </a:bodyPr>
          <a:lstStyle/>
          <a:p>
            <a:r>
              <a:rPr lang="en-GB" sz="4800" dirty="0"/>
              <a:t>RESULTS</a:t>
            </a:r>
            <a:endParaRPr lang="en-IN" dirty="0"/>
          </a:p>
        </p:txBody>
      </p:sp>
      <p:sp>
        <p:nvSpPr>
          <p:cNvPr id="13" name="Title 12">
            <a:extLst>
              <a:ext uri="{FF2B5EF4-FFF2-40B4-BE49-F238E27FC236}">
                <a16:creationId xmlns:a16="http://schemas.microsoft.com/office/drawing/2014/main" id="{CA7AED55-E820-20AC-877F-F1D8C260A886}"/>
              </a:ext>
            </a:extLst>
          </p:cNvPr>
          <p:cNvSpPr>
            <a:spLocks noGrp="1"/>
          </p:cNvSpPr>
          <p:nvPr>
            <p:ph type="title"/>
          </p:nvPr>
        </p:nvSpPr>
        <p:spPr>
          <a:xfrm>
            <a:off x="11051420" y="6223924"/>
            <a:ext cx="765650" cy="566738"/>
          </a:xfrm>
        </p:spPr>
        <p:txBody>
          <a:bodyPr/>
          <a:lstStyle/>
          <a:p>
            <a:r>
              <a:rPr lang="en-IN" dirty="0"/>
              <a:t>.</a:t>
            </a:r>
          </a:p>
        </p:txBody>
      </p:sp>
    </p:spTree>
    <p:extLst>
      <p:ext uri="{BB962C8B-B14F-4D97-AF65-F5344CB8AC3E}">
        <p14:creationId xmlns:p14="http://schemas.microsoft.com/office/powerpoint/2010/main" val="2015543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8451714" cy="830997"/>
          </a:xfrm>
        </p:spPr>
        <p:txBody>
          <a:bodyPr>
            <a:normAutofit fontScale="90000"/>
          </a:bodyPr>
          <a:lstStyle/>
          <a:p>
            <a:pPr lvl="0"/>
            <a:r>
              <a:rPr lang="en-IN" sz="4000" dirty="0"/>
              <a:t>Future scope</a:t>
            </a:r>
            <a:br>
              <a:rPr lang="en-IN" sz="4000" dirty="0"/>
            </a:br>
            <a:br>
              <a:rPr lang="en-IN" sz="4000" dirty="0"/>
            </a:br>
            <a:br>
              <a:rPr lang="en-IN" sz="4000" dirty="0"/>
            </a:br>
            <a:r>
              <a:rPr lang="en-IN" sz="2400" b="0" dirty="0"/>
              <a:t>Develop machine learning models for crop yield prediction. </a:t>
            </a:r>
            <a:br>
              <a:rPr lang="en-IN" sz="2400" b="0" dirty="0"/>
            </a:br>
            <a:r>
              <a:rPr lang="en-IN" sz="2400" b="0" dirty="0"/>
              <a:t>Build a recommendation system for crop selection based on weather and soil conditions. </a:t>
            </a:r>
            <a:br>
              <a:rPr lang="en-IN" sz="2400" b="0" dirty="0"/>
            </a:br>
            <a:r>
              <a:rPr lang="en-IN" sz="2400" b="0" dirty="0"/>
              <a:t>Integrate real-time weather and rainfall data. </a:t>
            </a:r>
            <a:br>
              <a:rPr lang="en-IN" sz="2400" b="0" dirty="0"/>
            </a:br>
            <a:r>
              <a:rPr lang="en-IN" sz="2400" b="0" dirty="0"/>
              <a:t>Create an interactive dashboard using </a:t>
            </a:r>
            <a:r>
              <a:rPr lang="en-IN" sz="2400" b="0" dirty="0" err="1"/>
              <a:t>Streamlit</a:t>
            </a:r>
            <a:r>
              <a:rPr lang="en-IN" sz="2400" b="0" dirty="0"/>
              <a:t> or Power BI. </a:t>
            </a:r>
            <a:br>
              <a:rPr lang="en-IN" sz="2400" b="0" dirty="0"/>
            </a:br>
            <a:r>
              <a:rPr lang="en-IN" sz="2400" b="0" dirty="0"/>
              <a:t>Expand the analysis to include market prices and profit forecasting. </a:t>
            </a:r>
            <a:br>
              <a:rPr lang="en-IN" sz="2400" b="0" dirty="0"/>
            </a:br>
            <a:r>
              <a:rPr lang="en-IN" sz="2400" b="0" dirty="0"/>
              <a:t>Support region-wise and state-wise agricultural comparisons. </a:t>
            </a:r>
            <a:br>
              <a:rPr lang="en-IN" sz="2400" b="0" dirty="0"/>
            </a:br>
            <a:r>
              <a:rPr lang="en-IN" sz="2400" b="0" dirty="0"/>
              <a:t>Implement AI-based decision support for farmers.</a:t>
            </a:r>
            <a:br>
              <a:rPr lang="en-IN" sz="2400" b="0" dirty="0"/>
            </a:br>
            <a:endParaRPr lang="en-IN" sz="2400" b="0" dirty="0"/>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369332"/>
          </a:xfrm>
          <a:prstGeom prst="rect">
            <a:avLst/>
          </a:prstGeom>
          <a:noFill/>
        </p:spPr>
        <p:txBody>
          <a:bodyPr wrap="square">
            <a:spAutoFit/>
          </a:bodyPr>
          <a:lstStyle/>
          <a:p>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7613AFB-2E67-95F6-B317-DA0A35CF7533}"/>
              </a:ext>
            </a:extLst>
          </p:cNvPr>
          <p:cNvPicPr>
            <a:picLocks noChangeAspect="1"/>
          </p:cNvPicPr>
          <p:nvPr/>
        </p:nvPicPr>
        <p:blipFill>
          <a:blip r:embed="rId3"/>
          <a:stretch>
            <a:fillRect/>
          </a:stretch>
        </p:blipFill>
        <p:spPr>
          <a:xfrm>
            <a:off x="725401" y="1429810"/>
            <a:ext cx="7055878" cy="494856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3499426" y="4220346"/>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1495</TotalTime>
  <Words>997</Words>
  <Application>Microsoft Office PowerPoint</Application>
  <PresentationFormat>Widescreen</PresentationFormat>
  <Paragraphs>99</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 Seasonal Agriculture Performance Analysis </vt:lpstr>
      <vt:lpstr>PROBLEM  STATEMENT</vt:lpstr>
      <vt:lpstr>Project Description:  Seasonal Agriculture Performance Data Analytics is a data analytics project that examines agricultural production data across different seasons to identify patterns, trends, and factors affecting crop performance. The project involves data cleaning, handling missing values, exploratory data analysis (EDA), statistical analysis, correlation analysis, and seasonal comparisons. By analysing variables such as crop type, rainfall, temperature, irrigation methods, production, yield, and profit, the project provides meaningful insights that can help improve agricultural planning and decision-making. The findings support farmers and agricultural stakeholders in understanding seasonal impacts on crop productivity and profitability.  </vt:lpstr>
      <vt:lpstr>WHO ARE THE END USERS?</vt:lpstr>
      <vt:lpstr>Technology Used</vt:lpstr>
      <vt:lpstr>RESULTS </vt:lpstr>
      <vt:lpstr>RESULTS </vt:lpstr>
      <vt:lpstr>RESULTS </vt:lpstr>
      <vt:lpstr>RESULTS </vt:lpstr>
      <vt:lpstr>RESULTS </vt:lpstr>
      <vt:lpstr>.</vt:lpstr>
      <vt:lpstr>Future scope   Develop machine learning models for crop yield prediction.  Build a recommendation system for crop selection based on weather and soil conditions.  Integrate real-time weather and rainfall data.  Create an interactive dashboard using Streamlit or Power BI.  Expand the analysis to include market prices and profit forecasting.  Support region-wise and state-wise agricultural comparisons.  Implement AI-based decision support for farmers. </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Pavan Dattu B</cp:lastModifiedBy>
  <cp:revision>111</cp:revision>
  <dcterms:created xsi:type="dcterms:W3CDTF">2021-07-11T13:13:15Z</dcterms:created>
  <dcterms:modified xsi:type="dcterms:W3CDTF">2026-09-10T14:44:15Z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