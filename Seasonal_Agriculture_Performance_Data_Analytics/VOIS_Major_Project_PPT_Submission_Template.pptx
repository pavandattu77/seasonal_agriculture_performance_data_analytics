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8" d="100"/>
          <a:sy n="88" d="100"/>
        </p:scale>
        <p:origin x="165" y="5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352789" y="3522516"/>
            <a:ext cx="6373586" cy="861497"/>
          </a:xfrm>
        </p:spPr>
        <p:txBody>
          <a:bodyPr vert="horz" lIns="91440" tIns="45720" rIns="91440" bIns="45720" rtlCol="0" anchor="t">
            <a:normAutofit/>
          </a:bodyPr>
          <a:lstStyle/>
          <a:p>
            <a:pPr algn="r"/>
            <a:r>
              <a:rPr lang="en-US" b="0" dirty="0">
                <a:solidFill>
                  <a:schemeClr val="tx1"/>
                </a:solidFill>
              </a:rPr>
              <a:t>[Bandaru Pavan Dattu</a:t>
            </a:r>
            <a:endParaRPr lang="en-IN" b="0" dirty="0">
              <a:solidFill>
                <a:schemeClr val="tx1"/>
              </a:solidFill>
            </a:endParaRPr>
          </a:p>
          <a:p>
            <a:pPr algn="r"/>
            <a:r>
              <a:rPr lang="en-US" b="0" dirty="0">
                <a:solidFill>
                  <a:schemeClr val="tx1"/>
                </a:solidFill>
              </a:rPr>
              <a:t>Malla Reddy College of Engineering and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10158365" cy="743448"/>
          </a:xfrm>
        </p:spPr>
        <p:txBody>
          <a:bodyPr>
            <a:normAutofit fontScale="90000"/>
          </a:bodyPr>
          <a:lstStyle/>
          <a:p>
            <a:r>
              <a:rPr lang="en-GB" sz="3200" dirty="0"/>
              <a:t>Project Title - Seasonal Agriculture Performance Analysis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4256851" cy="646331"/>
          </a:xfrm>
          <a:prstGeom prst="rect">
            <a:avLst/>
          </a:prstGeom>
          <a:noFill/>
        </p:spPr>
        <p:txBody>
          <a:bodyPr wrap="square" rtlCol="0">
            <a:spAutoFit/>
          </a:bodyPr>
          <a:lstStyle/>
          <a:p>
            <a:r>
              <a:rPr lang="en-US" b="1" dirty="0"/>
              <a:t>AICTE STU ID : (STU6864341ed349b1751397406)</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855980" y="2102230"/>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828003"/>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8821058" cy="5901340"/>
          </a:xfrm>
        </p:spPr>
        <p:txBody>
          <a:bodyPr>
            <a:normAutofit fontScale="90000"/>
          </a:bodyPr>
          <a:lstStyle/>
          <a:p>
            <a:r>
              <a:rPr lang="en-GB" dirty="0"/>
              <a:t>Project Description:</a:t>
            </a:r>
            <a:br>
              <a:rPr lang="en-GB" dirty="0"/>
            </a:br>
            <a:br>
              <a:rPr lang="en-GB" dirty="0"/>
            </a:br>
            <a:r>
              <a:rPr lang="en-IN" sz="2400" b="0" dirty="0"/>
              <a:t>Seasonal Agriculture Performance Data Analytics is a data analytics project that examines agricultural production data across different seasons to identify patterns, trends, and factors affecting crop performance. The project involves data cleaning, handling missing values, exploratory data analysis (EDA), statistical analysis, correlation analysis, and seasonal comparisons. By analysing variables such as crop type, rainfall, temperature, irrigation methods, production, yield, and profit, the project provides meaningful insights that can help improve agricultural planning and decision-making. The findings support farmers and agricultural stakeholders in understanding seasonal impacts on crop productivity and profitability.</a:t>
            </a:r>
            <a:r>
              <a:rPr lang="en-GB" b="0" dirty="0"/>
              <a:t> </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55000" lnSpcReduction="20000"/>
          </a:bodyPr>
          <a:lstStyle/>
          <a:p>
            <a:pPr marL="0" indent="0">
              <a:buNone/>
            </a:pPr>
            <a:r>
              <a:rPr lang="en-IN" sz="3600" dirty="0"/>
              <a:t>The primary end users of this system are:</a:t>
            </a:r>
          </a:p>
          <a:p>
            <a:pPr marL="0" indent="0">
              <a:buNone/>
            </a:pPr>
            <a:endParaRPr lang="en-IN" sz="3600" dirty="0"/>
          </a:p>
          <a:p>
            <a:pPr lvl="0"/>
            <a:r>
              <a:rPr lang="en-IN" sz="3600" b="1" dirty="0"/>
              <a:t>Farmers</a:t>
            </a:r>
            <a:r>
              <a:rPr lang="en-IN" sz="3600" dirty="0"/>
              <a:t> – to make informed decisions about crop selection and cultivation practices. </a:t>
            </a:r>
          </a:p>
          <a:p>
            <a:pPr lvl="0"/>
            <a:r>
              <a:rPr lang="en-IN" sz="3600" b="1" dirty="0"/>
              <a:t>Agricultural Officers</a:t>
            </a:r>
            <a:r>
              <a:rPr lang="en-IN" sz="3600" dirty="0"/>
              <a:t> – to monitor agricultural trends and provide recommendations. </a:t>
            </a:r>
          </a:p>
          <a:p>
            <a:pPr lvl="0"/>
            <a:r>
              <a:rPr lang="en-IN" sz="3600" b="1" dirty="0"/>
              <a:t>Government Agencies</a:t>
            </a:r>
            <a:r>
              <a:rPr lang="en-IN" sz="3600" dirty="0"/>
              <a:t> – for policy planning and resource allocation. </a:t>
            </a:r>
          </a:p>
          <a:p>
            <a:pPr lvl="0"/>
            <a:r>
              <a:rPr lang="en-IN" sz="3600" b="1" dirty="0"/>
              <a:t>Agricultural Researchers</a:t>
            </a:r>
            <a:r>
              <a:rPr lang="en-IN" sz="3600" dirty="0"/>
              <a:t> – for studying crop performance and seasonal effects. </a:t>
            </a:r>
          </a:p>
          <a:p>
            <a:pPr lvl="0"/>
            <a:r>
              <a:rPr lang="en-IN" sz="3600" b="1" dirty="0"/>
              <a:t>Agribusiness Companies</a:t>
            </a:r>
            <a:r>
              <a:rPr lang="en-IN" sz="3600" dirty="0"/>
              <a:t> – to understand production trends and market opportunities.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3" end="3"/>
                                            </p:txEl>
                                          </p:spTgt>
                                        </p:tgtEl>
                                        <p:attrNameLst>
                                          <p:attrName>style.visibility</p:attrName>
                                        </p:attrNameLst>
                                      </p:cBhvr>
                                      <p:to>
                                        <p:strVal val="visible"/>
                                      </p:to>
                                    </p:set>
                                    <p:animEffect transition="in" filter="fade">
                                      <p:cBhvr>
                                        <p:cTn id="28" dur="1000"/>
                                        <p:tgtEl>
                                          <p:spTgt spid="2">
                                            <p:txEl>
                                              <p:pRg st="3" end="3"/>
                                            </p:txEl>
                                          </p:spTgt>
                                        </p:tgtEl>
                                      </p:cBhvr>
                                    </p:animEffect>
                                    <p:anim calcmode="lin" valueType="num">
                                      <p:cBhvr>
                                        <p:cTn id="29"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4" end="4"/>
                                            </p:txEl>
                                          </p:spTgt>
                                        </p:tgtEl>
                                        <p:attrNameLst>
                                          <p:attrName>style.visibility</p:attrName>
                                        </p:attrNameLst>
                                      </p:cBhvr>
                                      <p:to>
                                        <p:strVal val="visible"/>
                                      </p:to>
                                    </p:set>
                                    <p:animEffect transition="in" filter="fade">
                                      <p:cBhvr>
                                        <p:cTn id="35" dur="1000"/>
                                        <p:tgtEl>
                                          <p:spTgt spid="2">
                                            <p:txEl>
                                              <p:pRg st="4" end="4"/>
                                            </p:txEl>
                                          </p:spTgt>
                                        </p:tgtEl>
                                      </p:cBhvr>
                                    </p:animEffect>
                                    <p:anim calcmode="lin" valueType="num">
                                      <p:cBhvr>
                                        <p:cTn id="36"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5" end="5"/>
                                            </p:txEl>
                                          </p:spTgt>
                                        </p:tgtEl>
                                        <p:attrNameLst>
                                          <p:attrName>style.visibility</p:attrName>
                                        </p:attrNameLst>
                                      </p:cBhvr>
                                      <p:to>
                                        <p:strVal val="visible"/>
                                      </p:to>
                                    </p:set>
                                    <p:animEffect transition="in" filter="fade">
                                      <p:cBhvr>
                                        <p:cTn id="42" dur="1000"/>
                                        <p:tgtEl>
                                          <p:spTgt spid="2">
                                            <p:txEl>
                                              <p:pRg st="5" end="5"/>
                                            </p:txEl>
                                          </p:spTgt>
                                        </p:tgtEl>
                                      </p:cBhvr>
                                    </p:animEffect>
                                    <p:anim calcmode="lin" valueType="num">
                                      <p:cBhvr>
                                        <p:cTn id="43"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6" end="6"/>
                                            </p:txEl>
                                          </p:spTgt>
                                        </p:tgtEl>
                                        <p:attrNameLst>
                                          <p:attrName>style.visibility</p:attrName>
                                        </p:attrNameLst>
                                      </p:cBhvr>
                                      <p:to>
                                        <p:strVal val="visible"/>
                                      </p:to>
                                    </p:set>
                                    <p:animEffect transition="in" filter="fade">
                                      <p:cBhvr>
                                        <p:cTn id="49" dur="1000"/>
                                        <p:tgtEl>
                                          <p:spTgt spid="2">
                                            <p:txEl>
                                              <p:pRg st="6" end="6"/>
                                            </p:txEl>
                                          </p:spTgt>
                                        </p:tgtEl>
                                      </p:cBhvr>
                                    </p:animEffect>
                                    <p:anim calcmode="lin" valueType="num">
                                      <p:cBhvr>
                                        <p:cTn id="50"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680576" y="1421674"/>
            <a:ext cx="9027702" cy="5243448"/>
          </a:xfrm>
        </p:spPr>
        <p:txBody>
          <a:bodyPr/>
          <a:lstStyle/>
          <a:p>
            <a:r>
              <a:rPr lang="en-IN" b="1" dirty="0"/>
              <a:t>Programming Language</a:t>
            </a:r>
          </a:p>
          <a:p>
            <a:pPr lvl="0"/>
            <a:r>
              <a:rPr lang="en-IN" dirty="0"/>
              <a:t>Python </a:t>
            </a:r>
          </a:p>
          <a:p>
            <a:r>
              <a:rPr lang="en-IN" b="1" dirty="0"/>
              <a:t>Libraries Used</a:t>
            </a:r>
          </a:p>
          <a:p>
            <a:pPr lvl="0"/>
            <a:r>
              <a:rPr lang="en-IN" dirty="0"/>
              <a:t>Pandas (Data Manipulation) </a:t>
            </a:r>
          </a:p>
          <a:p>
            <a:pPr lvl="0"/>
            <a:r>
              <a:rPr lang="en-IN" dirty="0"/>
              <a:t>NumPy (Numerical Computation) </a:t>
            </a:r>
          </a:p>
          <a:p>
            <a:pPr lvl="0"/>
            <a:r>
              <a:rPr lang="en-IN" dirty="0"/>
              <a:t>Matplotlib (Data Visualization) </a:t>
            </a:r>
          </a:p>
          <a:p>
            <a:pPr lvl="0"/>
            <a:r>
              <a:rPr lang="en-IN" dirty="0"/>
              <a:t>Seaborn (Statistical Visualization)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0"/>
            <a:ext cx="3804704" cy="4962143"/>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lvl="0"/>
            <a:r>
              <a:rPr lang="en-IN" sz="2000"/>
              <a:t>This graph shows the number of records available for each agricultural season. </a:t>
            </a:r>
          </a:p>
          <a:p>
            <a:pPr lvl="0"/>
            <a:r>
              <a:rPr lang="en-IN" sz="2000"/>
              <a:t>It helps identify whether the dataset is balanced across seasons. </a:t>
            </a:r>
          </a:p>
          <a:p>
            <a:pPr lvl="0"/>
            <a:r>
              <a:rPr lang="en-IN" sz="2000"/>
              <a:t>Seasons with higher bars contain more observations and data points. </a:t>
            </a:r>
          </a:p>
          <a:p>
            <a:pPr lvl="0"/>
            <a:r>
              <a:rPr lang="en-IN" sz="2000"/>
              <a:t>A balanced distribution improves the reliability of seasonal comparisons.</a:t>
            </a:r>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04F7F4C1-762A-1D3A-CCD7-DFF12CDBA12F}"/>
              </a:ext>
            </a:extLst>
          </p:cNvPr>
          <p:cNvPicPr>
            <a:picLocks noChangeAspect="1"/>
          </p:cNvPicPr>
          <p:nvPr/>
        </p:nvPicPr>
        <p:blipFill>
          <a:blip r:embed="rId3"/>
          <a:stretch>
            <a:fillRect/>
          </a:stretch>
        </p:blipFill>
        <p:spPr>
          <a:xfrm>
            <a:off x="4507341" y="1085833"/>
            <a:ext cx="6638974" cy="4686334"/>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2"/>
            <a:ext cx="5202304" cy="5040227"/>
          </a:xfrm>
        </p:spPr>
        <p:txBody>
          <a:bodyPr>
            <a:normAutofit fontScale="85000" lnSpcReduction="20000"/>
          </a:bodyPr>
          <a:lstStyle/>
          <a:p>
            <a:pPr marL="0" indent="0">
              <a:buNone/>
            </a:pPr>
            <a:r>
              <a:rPr lang="en-IN" dirty="0" err="1"/>
              <a:t>plt.figure</a:t>
            </a:r>
            <a:r>
              <a:rPr lang="en-IN" dirty="0"/>
              <a:t>(</a:t>
            </a:r>
            <a:r>
              <a:rPr lang="en-IN" dirty="0" err="1"/>
              <a:t>figsize</a:t>
            </a:r>
            <a:r>
              <a:rPr lang="en-IN" dirty="0"/>
              <a:t>=(8, 5))</a:t>
            </a:r>
          </a:p>
          <a:p>
            <a:pPr marL="0" indent="0">
              <a:buNone/>
            </a:pPr>
            <a:r>
              <a:rPr lang="en-IN" dirty="0" err="1"/>
              <a:t>sns.histplot</a:t>
            </a:r>
            <a:r>
              <a:rPr lang="en-IN" dirty="0"/>
              <a:t>(data=</a:t>
            </a:r>
            <a:r>
              <a:rPr lang="en-IN" dirty="0" err="1"/>
              <a:t>df</a:t>
            </a:r>
            <a:r>
              <a:rPr lang="en-IN" dirty="0"/>
              <a:t>, x="</a:t>
            </a:r>
            <a:r>
              <a:rPr lang="en-IN" dirty="0" err="1"/>
              <a:t>Profit_INR</a:t>
            </a:r>
            <a:r>
              <a:rPr lang="en-IN" dirty="0"/>
              <a:t>", </a:t>
            </a:r>
            <a:r>
              <a:rPr lang="en-IN" dirty="0" err="1"/>
              <a:t>kde</a:t>
            </a:r>
            <a:r>
              <a:rPr lang="en-IN" dirty="0"/>
              <a:t>=True)</a:t>
            </a:r>
          </a:p>
          <a:p>
            <a:pPr marL="0" indent="0">
              <a:buNone/>
            </a:pPr>
            <a:r>
              <a:rPr lang="en-IN" dirty="0" err="1"/>
              <a:t>plt.title</a:t>
            </a:r>
            <a:r>
              <a:rPr lang="en-IN" dirty="0"/>
              <a:t>("Distribution of Farm Profit")</a:t>
            </a:r>
          </a:p>
          <a:p>
            <a:pPr marL="0" indent="0">
              <a:buNone/>
            </a:pPr>
            <a:r>
              <a:rPr lang="en-IN" dirty="0" err="1"/>
              <a:t>plt.xlabel</a:t>
            </a:r>
            <a:r>
              <a:rPr lang="en-IN" dirty="0"/>
              <a:t>("Profit (INR)")</a:t>
            </a:r>
          </a:p>
          <a:p>
            <a:pPr marL="0" indent="0">
              <a:buNone/>
            </a:pPr>
            <a:r>
              <a:rPr lang="en-IN" dirty="0" err="1"/>
              <a:t>plt.ylabel</a:t>
            </a:r>
            <a:r>
              <a:rPr lang="en-IN" dirty="0"/>
              <a:t>("Frequency")</a:t>
            </a:r>
          </a:p>
          <a:p>
            <a:pPr marL="0" indent="0">
              <a:buNone/>
            </a:pPr>
            <a:r>
              <a:rPr lang="en-IN" dirty="0" err="1"/>
              <a:t>plt.tight_layout</a:t>
            </a:r>
            <a:r>
              <a:rPr lang="en-IN" dirty="0"/>
              <a:t>()</a:t>
            </a:r>
          </a:p>
          <a:p>
            <a:pPr marL="0" indent="0">
              <a:buNone/>
            </a:pPr>
            <a:r>
              <a:rPr lang="en-IN" dirty="0" err="1"/>
              <a:t>plt.show</a:t>
            </a:r>
            <a:r>
              <a:rPr lang="en-IN" dirty="0"/>
              <a:t>()</a:t>
            </a:r>
          </a:p>
          <a:p>
            <a:pPr marL="0" indent="0">
              <a:buNone/>
            </a:pPr>
            <a:endParaRPr lang="en-US" dirty="0"/>
          </a:p>
          <a:p>
            <a:pPr lvl="0"/>
            <a:r>
              <a:rPr lang="en-IN" dirty="0"/>
              <a:t>The histogram illustrates the distribution of farm profits across all records. </a:t>
            </a:r>
          </a:p>
          <a:p>
            <a:pPr lvl="0"/>
            <a:r>
              <a:rPr lang="en-IN" dirty="0"/>
              <a:t>Most farms appear to fall within a particular profit range, while some show unusually high or low profits. </a:t>
            </a:r>
          </a:p>
          <a:p>
            <a:pPr lvl="0"/>
            <a:r>
              <a:rPr lang="en-IN" dirty="0"/>
              <a:t>The KDE curve helps visualize the overall profit trend. </a:t>
            </a:r>
          </a:p>
          <a:p>
            <a:pPr lvl="0"/>
            <a:r>
              <a:rPr lang="en-IN" dirty="0"/>
              <a:t>This graph is useful for understanding profitability patterns and detecting skewness. </a:t>
            </a:r>
          </a:p>
          <a:p>
            <a:pPr marL="0" indent="0">
              <a:buNone/>
            </a:pPr>
            <a:endParaRPr lang="en-IN" dirty="0"/>
          </a:p>
        </p:txBody>
      </p:sp>
      <p:pic>
        <p:nvPicPr>
          <p:cNvPr id="3" name="Picture 2">
            <a:extLst>
              <a:ext uri="{FF2B5EF4-FFF2-40B4-BE49-F238E27FC236}">
                <a16:creationId xmlns:a16="http://schemas.microsoft.com/office/drawing/2014/main" id="{6F134B92-BC78-6925-D6C0-0F7352525684}"/>
              </a:ext>
            </a:extLst>
          </p:cNvPr>
          <p:cNvPicPr>
            <a:picLocks noChangeAspect="1"/>
          </p:cNvPicPr>
          <p:nvPr/>
        </p:nvPicPr>
        <p:blipFill>
          <a:blip r:embed="rId3"/>
          <a:stretch>
            <a:fillRect/>
          </a:stretch>
        </p:blipFill>
        <p:spPr>
          <a:xfrm>
            <a:off x="6182533" y="2197123"/>
            <a:ext cx="5784714" cy="3590011"/>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8" end="8"/>
                                            </p:txEl>
                                          </p:spTgt>
                                        </p:tgtEl>
                                        <p:attrNameLst>
                                          <p:attrName>style.visibility</p:attrName>
                                        </p:attrNameLst>
                                      </p:cBhvr>
                                      <p:to>
                                        <p:strVal val="visible"/>
                                      </p:to>
                                    </p:set>
                                    <p:animEffect transition="in" filter="fade">
                                      <p:cBhvr>
                                        <p:cTn id="77" dur="1000"/>
                                        <p:tgtEl>
                                          <p:spTgt spid="10">
                                            <p:txEl>
                                              <p:pRg st="8" end="8"/>
                                            </p:txEl>
                                          </p:spTgt>
                                        </p:tgtEl>
                                      </p:cBhvr>
                                    </p:animEffect>
                                    <p:anim calcmode="lin" valueType="num">
                                      <p:cBhvr>
                                        <p:cTn id="78"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9" end="9"/>
                                            </p:txEl>
                                          </p:spTgt>
                                        </p:tgtEl>
                                        <p:attrNameLst>
                                          <p:attrName>style.visibility</p:attrName>
                                        </p:attrNameLst>
                                      </p:cBhvr>
                                      <p:to>
                                        <p:strVal val="visible"/>
                                      </p:to>
                                    </p:set>
                                    <p:animEffect transition="in" filter="fade">
                                      <p:cBhvr>
                                        <p:cTn id="84" dur="1000"/>
                                        <p:tgtEl>
                                          <p:spTgt spid="10">
                                            <p:txEl>
                                              <p:pRg st="9" end="9"/>
                                            </p:txEl>
                                          </p:spTgt>
                                        </p:tgtEl>
                                      </p:cBhvr>
                                    </p:animEffect>
                                    <p:anim calcmode="lin" valueType="num">
                                      <p:cBhvr>
                                        <p:cTn id="85"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10" end="10"/>
                                            </p:txEl>
                                          </p:spTgt>
                                        </p:tgtEl>
                                        <p:attrNameLst>
                                          <p:attrName>style.visibility</p:attrName>
                                        </p:attrNameLst>
                                      </p:cBhvr>
                                      <p:to>
                                        <p:strVal val="visible"/>
                                      </p:to>
                                    </p:set>
                                    <p:animEffect transition="in" filter="fade">
                                      <p:cBhvr>
                                        <p:cTn id="91" dur="1000"/>
                                        <p:tgtEl>
                                          <p:spTgt spid="10">
                                            <p:txEl>
                                              <p:pRg st="10" end="10"/>
                                            </p:txEl>
                                          </p:spTgt>
                                        </p:tgtEl>
                                      </p:cBhvr>
                                    </p:animEffect>
                                    <p:anim calcmode="lin" valueType="num">
                                      <p:cBhvr>
                                        <p:cTn id="92"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10">
                                            <p:txEl>
                                              <p:pRg st="11" end="11"/>
                                            </p:txEl>
                                          </p:spTgt>
                                        </p:tgtEl>
                                        <p:attrNameLst>
                                          <p:attrName>style.visibility</p:attrName>
                                        </p:attrNameLst>
                                      </p:cBhvr>
                                      <p:to>
                                        <p:strVal val="visible"/>
                                      </p:to>
                                    </p:set>
                                    <p:animEffect transition="in" filter="fade">
                                      <p:cBhvr>
                                        <p:cTn id="98" dur="1000"/>
                                        <p:tgtEl>
                                          <p:spTgt spid="10">
                                            <p:txEl>
                                              <p:pRg st="11" end="11"/>
                                            </p:txEl>
                                          </p:spTgt>
                                        </p:tgtEl>
                                      </p:cBhvr>
                                    </p:animEffect>
                                    <p:anim calcmode="lin" valueType="num">
                                      <p:cBhvr>
                                        <p:cTn id="99" dur="1000" fill="hold"/>
                                        <p:tgtEl>
                                          <p:spTgt spid="10">
                                            <p:txEl>
                                              <p:pRg st="11" end="11"/>
                                            </p:txEl>
                                          </p:spTgt>
                                        </p:tgtEl>
                                        <p:attrNameLst>
                                          <p:attrName>ppt_x</p:attrName>
                                        </p:attrNameLst>
                                      </p:cBhvr>
                                      <p:tavLst>
                                        <p:tav tm="0">
                                          <p:val>
                                            <p:strVal val="#ppt_x"/>
                                          </p:val>
                                        </p:tav>
                                        <p:tav tm="100000">
                                          <p:val>
                                            <p:strVal val="#ppt_x"/>
                                          </p:val>
                                        </p:tav>
                                      </p:tavLst>
                                    </p:anim>
                                    <p:anim calcmode="lin" valueType="num">
                                      <p:cBhvr>
                                        <p:cTn id="100" dur="1000" fill="hold"/>
                                        <p:tgtEl>
                                          <p:spTgt spid="10">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5544650" cy="5366436"/>
          </a:xfrm>
        </p:spPr>
        <p:txBody>
          <a:bodyPr>
            <a:normAutofit fontScale="92500" lnSpcReduction="20000"/>
          </a:bodyPr>
          <a:lstStyle/>
          <a:p>
            <a:pPr marL="0" indent="0">
              <a:buNone/>
            </a:pPr>
            <a:r>
              <a:rPr lang="en-IN" dirty="0" err="1"/>
              <a:t>plt.figure</a:t>
            </a:r>
            <a:r>
              <a:rPr lang="en-IN" dirty="0"/>
              <a:t>(</a:t>
            </a:r>
            <a:r>
              <a:rPr lang="en-IN" dirty="0" err="1"/>
              <a:t>figsize</a:t>
            </a:r>
            <a:r>
              <a:rPr lang="en-IN" dirty="0"/>
              <a:t>=(7, 7))</a:t>
            </a:r>
          </a:p>
          <a:p>
            <a:pPr marL="0" indent="0">
              <a:buNone/>
            </a:pPr>
            <a:r>
              <a:rPr lang="en-IN" dirty="0" err="1"/>
              <a:t>df</a:t>
            </a:r>
            <a:r>
              <a:rPr lang="en-IN" dirty="0"/>
              <a:t>['Season'].</a:t>
            </a:r>
            <a:r>
              <a:rPr lang="en-IN" dirty="0" err="1"/>
              <a:t>value_counts</a:t>
            </a:r>
            <a:r>
              <a:rPr lang="en-IN" dirty="0"/>
              <a:t>().</a:t>
            </a:r>
            <a:r>
              <a:rPr lang="en-IN" dirty="0" err="1"/>
              <a:t>plot.pie</a:t>
            </a:r>
            <a:r>
              <a:rPr lang="en-IN" dirty="0"/>
              <a:t>(</a:t>
            </a:r>
            <a:r>
              <a:rPr lang="en-IN" dirty="0" err="1"/>
              <a:t>autopct</a:t>
            </a:r>
            <a:r>
              <a:rPr lang="en-IN" dirty="0"/>
              <a:t>='%1.1f%%', </a:t>
            </a:r>
            <a:r>
              <a:rPr lang="en-IN" dirty="0" err="1"/>
              <a:t>startangle</a:t>
            </a:r>
            <a:r>
              <a:rPr lang="en-IN" dirty="0"/>
              <a:t>=90, </a:t>
            </a:r>
            <a:r>
              <a:rPr lang="en-IN" dirty="0" err="1"/>
              <a:t>cmap</a:t>
            </a:r>
            <a:r>
              <a:rPr lang="en-IN" dirty="0"/>
              <a:t>='</a:t>
            </a:r>
            <a:r>
              <a:rPr lang="en-IN" dirty="0" err="1"/>
              <a:t>viridis</a:t>
            </a:r>
            <a:r>
              <a:rPr lang="en-IN" dirty="0"/>
              <a:t>')</a:t>
            </a:r>
          </a:p>
          <a:p>
            <a:pPr marL="0" indent="0">
              <a:buNone/>
            </a:pPr>
            <a:r>
              <a:rPr lang="en-IN" dirty="0" err="1"/>
              <a:t>plt.title</a:t>
            </a:r>
            <a:r>
              <a:rPr lang="en-IN" dirty="0"/>
              <a:t>('Distribution of Records by Season')</a:t>
            </a:r>
          </a:p>
          <a:p>
            <a:pPr marL="0" indent="0">
              <a:buNone/>
            </a:pPr>
            <a:r>
              <a:rPr lang="en-IN" dirty="0" err="1"/>
              <a:t>plt.ylabel</a:t>
            </a:r>
            <a:r>
              <a:rPr lang="en-IN" dirty="0"/>
              <a:t>('')  # Remove the y-axis label</a:t>
            </a:r>
          </a:p>
          <a:p>
            <a:pPr marL="0" indent="0">
              <a:buNone/>
            </a:pPr>
            <a:r>
              <a:rPr lang="en-IN" dirty="0" err="1"/>
              <a:t>plt.tight_layout</a:t>
            </a:r>
            <a:r>
              <a:rPr lang="en-IN" dirty="0"/>
              <a:t>()</a:t>
            </a:r>
          </a:p>
          <a:p>
            <a:pPr marL="0" indent="0">
              <a:buNone/>
            </a:pPr>
            <a:r>
              <a:rPr lang="en-IN" dirty="0" err="1"/>
              <a:t>plt.show</a:t>
            </a:r>
            <a:r>
              <a:rPr lang="en-IN" dirty="0"/>
              <a:t>()</a:t>
            </a:r>
          </a:p>
          <a:p>
            <a:pPr marL="0" indent="0">
              <a:buNone/>
            </a:pPr>
            <a:endParaRPr lang="en-US" dirty="0"/>
          </a:p>
          <a:p>
            <a:pPr lvl="0"/>
            <a:r>
              <a:rPr lang="en-IN" dirty="0"/>
              <a:t>The pie chart shows the percentage contribution of each season to the dataset. </a:t>
            </a:r>
          </a:p>
          <a:p>
            <a:pPr lvl="0"/>
            <a:r>
              <a:rPr lang="en-IN" dirty="0"/>
              <a:t>It provides a quick visual comparison of seasonal representation. </a:t>
            </a:r>
          </a:p>
          <a:p>
            <a:pPr lvl="0"/>
            <a:r>
              <a:rPr lang="en-IN" dirty="0"/>
              <a:t>Larger slices indicate seasons with more recorded observations. </a:t>
            </a:r>
          </a:p>
          <a:p>
            <a:pPr lvl="0"/>
            <a:r>
              <a:rPr lang="en-IN" dirty="0"/>
              <a:t>The chart helps assess whether all seasons are adequately represented in the analysis.</a:t>
            </a:r>
          </a:p>
          <a:p>
            <a:pPr marL="0" indent="0">
              <a:buNone/>
            </a:pPr>
            <a:endParaRPr lang="en-IN" dirty="0"/>
          </a:p>
        </p:txBody>
      </p:sp>
      <p:pic>
        <p:nvPicPr>
          <p:cNvPr id="3" name="Picture 2">
            <a:extLst>
              <a:ext uri="{FF2B5EF4-FFF2-40B4-BE49-F238E27FC236}">
                <a16:creationId xmlns:a16="http://schemas.microsoft.com/office/drawing/2014/main" id="{8EFBB853-CF7F-83F5-3360-E446B178A1F7}"/>
              </a:ext>
            </a:extLst>
          </p:cNvPr>
          <p:cNvPicPr>
            <a:picLocks noChangeAspect="1"/>
          </p:cNvPicPr>
          <p:nvPr/>
        </p:nvPicPr>
        <p:blipFill>
          <a:blip r:embed="rId3"/>
          <a:stretch>
            <a:fillRect/>
          </a:stretch>
        </p:blipFill>
        <p:spPr>
          <a:xfrm>
            <a:off x="7116376" y="2062843"/>
            <a:ext cx="3988436" cy="3756273"/>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7" end="7"/>
                                            </p:txEl>
                                          </p:spTgt>
                                        </p:tgtEl>
                                        <p:attrNameLst>
                                          <p:attrName>style.visibility</p:attrName>
                                        </p:attrNameLst>
                                      </p:cBhvr>
                                      <p:to>
                                        <p:strVal val="visible"/>
                                      </p:to>
                                    </p:set>
                                    <p:animEffect transition="in" filter="fade">
                                      <p:cBhvr>
                                        <p:cTn id="70" dur="1000"/>
                                        <p:tgtEl>
                                          <p:spTgt spid="10">
                                            <p:txEl>
                                              <p:pRg st="7" end="7"/>
                                            </p:txEl>
                                          </p:spTgt>
                                        </p:tgtEl>
                                      </p:cBhvr>
                                    </p:animEffect>
                                    <p:anim calcmode="lin" valueType="num">
                                      <p:cBhvr>
                                        <p:cTn id="71"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8" end="8"/>
                                            </p:txEl>
                                          </p:spTgt>
                                        </p:tgtEl>
                                        <p:attrNameLst>
                                          <p:attrName>style.visibility</p:attrName>
                                        </p:attrNameLst>
                                      </p:cBhvr>
                                      <p:to>
                                        <p:strVal val="visible"/>
                                      </p:to>
                                    </p:set>
                                    <p:animEffect transition="in" filter="fade">
                                      <p:cBhvr>
                                        <p:cTn id="77" dur="1000"/>
                                        <p:tgtEl>
                                          <p:spTgt spid="10">
                                            <p:txEl>
                                              <p:pRg st="8" end="8"/>
                                            </p:txEl>
                                          </p:spTgt>
                                        </p:tgtEl>
                                      </p:cBhvr>
                                    </p:animEffect>
                                    <p:anim calcmode="lin" valueType="num">
                                      <p:cBhvr>
                                        <p:cTn id="78"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9" end="9"/>
                                            </p:txEl>
                                          </p:spTgt>
                                        </p:tgtEl>
                                        <p:attrNameLst>
                                          <p:attrName>style.visibility</p:attrName>
                                        </p:attrNameLst>
                                      </p:cBhvr>
                                      <p:to>
                                        <p:strVal val="visible"/>
                                      </p:to>
                                    </p:set>
                                    <p:animEffect transition="in" filter="fade">
                                      <p:cBhvr>
                                        <p:cTn id="84" dur="1000"/>
                                        <p:tgtEl>
                                          <p:spTgt spid="10">
                                            <p:txEl>
                                              <p:pRg st="9" end="9"/>
                                            </p:txEl>
                                          </p:spTgt>
                                        </p:tgtEl>
                                      </p:cBhvr>
                                    </p:animEffect>
                                    <p:anim calcmode="lin" valueType="num">
                                      <p:cBhvr>
                                        <p:cTn id="85"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10" end="10"/>
                                            </p:txEl>
                                          </p:spTgt>
                                        </p:tgtEl>
                                        <p:attrNameLst>
                                          <p:attrName>style.visibility</p:attrName>
                                        </p:attrNameLst>
                                      </p:cBhvr>
                                      <p:to>
                                        <p:strVal val="visible"/>
                                      </p:to>
                                    </p:set>
                                    <p:animEffect transition="in" filter="fade">
                                      <p:cBhvr>
                                        <p:cTn id="91" dur="1000"/>
                                        <p:tgtEl>
                                          <p:spTgt spid="10">
                                            <p:txEl>
                                              <p:pRg st="10" end="10"/>
                                            </p:txEl>
                                          </p:spTgt>
                                        </p:tgtEl>
                                      </p:cBhvr>
                                    </p:animEffect>
                                    <p:anim calcmode="lin" valueType="num">
                                      <p:cBhvr>
                                        <p:cTn id="92"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3" y="1431692"/>
            <a:ext cx="4749993" cy="5132393"/>
          </a:xfrm>
        </p:spPr>
        <p:txBody>
          <a:bodyPr>
            <a:normAutofit fontScale="85000" lnSpcReduction="20000"/>
          </a:bodyPr>
          <a:lstStyle/>
          <a:p>
            <a:pPr marL="0" indent="0">
              <a:buNone/>
            </a:pPr>
            <a:r>
              <a:rPr lang="en-IN" dirty="0" err="1"/>
              <a:t>plt.figure</a:t>
            </a:r>
            <a:r>
              <a:rPr lang="en-IN" dirty="0"/>
              <a:t>(</a:t>
            </a:r>
            <a:r>
              <a:rPr lang="en-IN" dirty="0" err="1"/>
              <a:t>figsize</a:t>
            </a:r>
            <a:r>
              <a:rPr lang="en-IN" dirty="0"/>
              <a:t>=(8, 5))</a:t>
            </a:r>
          </a:p>
          <a:p>
            <a:pPr marL="0" indent="0">
              <a:buNone/>
            </a:pPr>
            <a:r>
              <a:rPr lang="en-IN" dirty="0" err="1"/>
              <a:t>sns.scatterplot</a:t>
            </a:r>
            <a:r>
              <a:rPr lang="en-IN" dirty="0"/>
              <a:t>(data=</a:t>
            </a:r>
            <a:r>
              <a:rPr lang="en-IN" dirty="0" err="1"/>
              <a:t>df</a:t>
            </a:r>
            <a:r>
              <a:rPr lang="en-IN" dirty="0"/>
              <a:t>, x="</a:t>
            </a:r>
            <a:r>
              <a:rPr lang="en-IN" dirty="0" err="1"/>
              <a:t>Rainfall_mm</a:t>
            </a:r>
            <a:r>
              <a:rPr lang="en-IN" dirty="0"/>
              <a:t>", y="</a:t>
            </a:r>
            <a:r>
              <a:rPr lang="en-IN" dirty="0" err="1"/>
              <a:t>Yield_Tonnes_Ha</a:t>
            </a:r>
            <a:r>
              <a:rPr lang="en-IN" dirty="0"/>
              <a:t>", alpha=0.5)</a:t>
            </a:r>
          </a:p>
          <a:p>
            <a:pPr marL="0" indent="0">
              <a:buNone/>
            </a:pPr>
            <a:r>
              <a:rPr lang="en-IN" dirty="0" err="1"/>
              <a:t>plt.title</a:t>
            </a:r>
            <a:r>
              <a:rPr lang="en-IN" dirty="0"/>
              <a:t>("Rainfall vs Agricultural Yield")</a:t>
            </a:r>
          </a:p>
          <a:p>
            <a:pPr marL="0" indent="0">
              <a:buNone/>
            </a:pPr>
            <a:r>
              <a:rPr lang="en-IN" dirty="0" err="1"/>
              <a:t>plt.xlabel</a:t>
            </a:r>
            <a:r>
              <a:rPr lang="en-IN" dirty="0"/>
              <a:t>("Rainfall (mm)")</a:t>
            </a:r>
          </a:p>
          <a:p>
            <a:pPr marL="0" indent="0">
              <a:buNone/>
            </a:pPr>
            <a:r>
              <a:rPr lang="en-IN" dirty="0" err="1"/>
              <a:t>plt.ylabel</a:t>
            </a:r>
            <a:r>
              <a:rPr lang="en-IN" dirty="0"/>
              <a:t>("Yield (tonnes/ha)")</a:t>
            </a:r>
          </a:p>
          <a:p>
            <a:pPr marL="0" indent="0">
              <a:buNone/>
            </a:pPr>
            <a:r>
              <a:rPr lang="en-IN" dirty="0" err="1"/>
              <a:t>plt.tight_layout</a:t>
            </a:r>
            <a:r>
              <a:rPr lang="en-IN" dirty="0"/>
              <a:t>()</a:t>
            </a:r>
          </a:p>
          <a:p>
            <a:pPr marL="0" indent="0">
              <a:buNone/>
            </a:pPr>
            <a:r>
              <a:rPr lang="en-IN" dirty="0" err="1"/>
              <a:t>plt.show</a:t>
            </a:r>
            <a:r>
              <a:rPr lang="en-IN" dirty="0"/>
              <a:t>()</a:t>
            </a:r>
          </a:p>
          <a:p>
            <a:pPr marL="0" indent="0">
              <a:buNone/>
            </a:pPr>
            <a:endParaRPr lang="en-IN" dirty="0"/>
          </a:p>
          <a:p>
            <a:pPr lvl="0"/>
            <a:r>
              <a:rPr lang="en-IN" dirty="0"/>
              <a:t>This graph examines the relationship between rainfall and crop yield. </a:t>
            </a:r>
          </a:p>
          <a:p>
            <a:pPr lvl="0"/>
            <a:r>
              <a:rPr lang="en-IN" dirty="0"/>
              <a:t>Each point represents an individual farm record. </a:t>
            </a:r>
          </a:p>
          <a:p>
            <a:pPr lvl="0"/>
            <a:r>
              <a:rPr lang="en-IN" dirty="0"/>
              <a:t>A positive trend suggests that higher rainfall may contribute to increased yield. </a:t>
            </a:r>
          </a:p>
          <a:p>
            <a:pPr lvl="0"/>
            <a:r>
              <a:rPr lang="en-IN" dirty="0"/>
              <a:t>The plot helps identify patterns, clusters, and unusual observations.</a:t>
            </a:r>
          </a:p>
          <a:p>
            <a:pPr marL="0" indent="0">
              <a:buNone/>
            </a:pPr>
            <a:endParaRPr lang="en-IN" dirty="0"/>
          </a:p>
          <a:p>
            <a:pPr marL="0" indent="0">
              <a:buNone/>
            </a:pPr>
            <a:endParaRPr lang="en-IN" dirty="0"/>
          </a:p>
        </p:txBody>
      </p:sp>
      <p:pic>
        <p:nvPicPr>
          <p:cNvPr id="3" name="Picture 2">
            <a:extLst>
              <a:ext uri="{FF2B5EF4-FFF2-40B4-BE49-F238E27FC236}">
                <a16:creationId xmlns:a16="http://schemas.microsoft.com/office/drawing/2014/main" id="{F9C8B15D-5AFF-AD8F-2972-E18A597FD42D}"/>
              </a:ext>
            </a:extLst>
          </p:cNvPr>
          <p:cNvPicPr>
            <a:picLocks noChangeAspect="1"/>
          </p:cNvPicPr>
          <p:nvPr/>
        </p:nvPicPr>
        <p:blipFill>
          <a:blip r:embed="rId3"/>
          <a:stretch>
            <a:fillRect/>
          </a:stretch>
        </p:blipFill>
        <p:spPr>
          <a:xfrm>
            <a:off x="5613879" y="2373158"/>
            <a:ext cx="5560334" cy="347520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8" end="8"/>
                                            </p:txEl>
                                          </p:spTgt>
                                        </p:tgtEl>
                                        <p:attrNameLst>
                                          <p:attrName>style.visibility</p:attrName>
                                        </p:attrNameLst>
                                      </p:cBhvr>
                                      <p:to>
                                        <p:strVal val="visible"/>
                                      </p:to>
                                    </p:set>
                                    <p:animEffect transition="in" filter="fade">
                                      <p:cBhvr>
                                        <p:cTn id="77" dur="1000"/>
                                        <p:tgtEl>
                                          <p:spTgt spid="10">
                                            <p:txEl>
                                              <p:pRg st="8" end="8"/>
                                            </p:txEl>
                                          </p:spTgt>
                                        </p:tgtEl>
                                      </p:cBhvr>
                                    </p:animEffect>
                                    <p:anim calcmode="lin" valueType="num">
                                      <p:cBhvr>
                                        <p:cTn id="78"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9" end="9"/>
                                            </p:txEl>
                                          </p:spTgt>
                                        </p:tgtEl>
                                        <p:attrNameLst>
                                          <p:attrName>style.visibility</p:attrName>
                                        </p:attrNameLst>
                                      </p:cBhvr>
                                      <p:to>
                                        <p:strVal val="visible"/>
                                      </p:to>
                                    </p:set>
                                    <p:animEffect transition="in" filter="fade">
                                      <p:cBhvr>
                                        <p:cTn id="84" dur="1000"/>
                                        <p:tgtEl>
                                          <p:spTgt spid="10">
                                            <p:txEl>
                                              <p:pRg st="9" end="9"/>
                                            </p:txEl>
                                          </p:spTgt>
                                        </p:tgtEl>
                                      </p:cBhvr>
                                    </p:animEffect>
                                    <p:anim calcmode="lin" valueType="num">
                                      <p:cBhvr>
                                        <p:cTn id="85"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10" end="10"/>
                                            </p:txEl>
                                          </p:spTgt>
                                        </p:tgtEl>
                                        <p:attrNameLst>
                                          <p:attrName>style.visibility</p:attrName>
                                        </p:attrNameLst>
                                      </p:cBhvr>
                                      <p:to>
                                        <p:strVal val="visible"/>
                                      </p:to>
                                    </p:set>
                                    <p:animEffect transition="in" filter="fade">
                                      <p:cBhvr>
                                        <p:cTn id="91" dur="1000"/>
                                        <p:tgtEl>
                                          <p:spTgt spid="10">
                                            <p:txEl>
                                              <p:pRg st="10" end="10"/>
                                            </p:txEl>
                                          </p:spTgt>
                                        </p:tgtEl>
                                      </p:cBhvr>
                                    </p:animEffect>
                                    <p:anim calcmode="lin" valueType="num">
                                      <p:cBhvr>
                                        <p:cTn id="92"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10">
                                            <p:txEl>
                                              <p:pRg st="11" end="11"/>
                                            </p:txEl>
                                          </p:spTgt>
                                        </p:tgtEl>
                                        <p:attrNameLst>
                                          <p:attrName>style.visibility</p:attrName>
                                        </p:attrNameLst>
                                      </p:cBhvr>
                                      <p:to>
                                        <p:strVal val="visible"/>
                                      </p:to>
                                    </p:set>
                                    <p:animEffect transition="in" filter="fade">
                                      <p:cBhvr>
                                        <p:cTn id="98" dur="1000"/>
                                        <p:tgtEl>
                                          <p:spTgt spid="10">
                                            <p:txEl>
                                              <p:pRg st="11" end="11"/>
                                            </p:txEl>
                                          </p:spTgt>
                                        </p:tgtEl>
                                      </p:cBhvr>
                                    </p:animEffect>
                                    <p:anim calcmode="lin" valueType="num">
                                      <p:cBhvr>
                                        <p:cTn id="99" dur="1000" fill="hold"/>
                                        <p:tgtEl>
                                          <p:spTgt spid="10">
                                            <p:txEl>
                                              <p:pRg st="11" end="11"/>
                                            </p:txEl>
                                          </p:spTgt>
                                        </p:tgtEl>
                                        <p:attrNameLst>
                                          <p:attrName>ppt_x</p:attrName>
                                        </p:attrNameLst>
                                      </p:cBhvr>
                                      <p:tavLst>
                                        <p:tav tm="0">
                                          <p:val>
                                            <p:strVal val="#ppt_x"/>
                                          </p:val>
                                        </p:tav>
                                        <p:tav tm="100000">
                                          <p:val>
                                            <p:strVal val="#ppt_x"/>
                                          </p:val>
                                        </p:tav>
                                      </p:tavLst>
                                    </p:anim>
                                    <p:anim calcmode="lin" valueType="num">
                                      <p:cBhvr>
                                        <p:cTn id="100" dur="1000" fill="hold"/>
                                        <p:tgtEl>
                                          <p:spTgt spid="10">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3" y="1431692"/>
            <a:ext cx="5092893" cy="5233267"/>
          </a:xfrm>
        </p:spPr>
        <p:txBody>
          <a:bodyPr>
            <a:normAutofit fontScale="55000" lnSpcReduction="20000"/>
          </a:bodyPr>
          <a:lstStyle/>
          <a:p>
            <a:pPr marL="0" indent="0">
              <a:buNone/>
            </a:pPr>
            <a:r>
              <a:rPr lang="en-US" dirty="0"/>
              <a:t>[</a:t>
            </a:r>
            <a:r>
              <a:rPr lang="en-IN" dirty="0" err="1"/>
              <a:t>plt.figure</a:t>
            </a:r>
            <a:r>
              <a:rPr lang="en-IN" dirty="0"/>
              <a:t>(</a:t>
            </a:r>
            <a:r>
              <a:rPr lang="en-IN" dirty="0" err="1"/>
              <a:t>figsize</a:t>
            </a:r>
            <a:r>
              <a:rPr lang="en-IN" dirty="0"/>
              <a:t>=(16, 12))</a:t>
            </a:r>
          </a:p>
          <a:p>
            <a:pPr marL="0" indent="0">
              <a:buNone/>
            </a:pPr>
            <a:r>
              <a:rPr lang="en-IN" dirty="0" err="1"/>
              <a:t>corr</a:t>
            </a:r>
            <a:r>
              <a:rPr lang="en-IN" dirty="0"/>
              <a:t> = </a:t>
            </a:r>
            <a:r>
              <a:rPr lang="en-IN" dirty="0" err="1"/>
              <a:t>df</a:t>
            </a:r>
            <a:r>
              <a:rPr lang="en-IN" dirty="0"/>
              <a:t>[</a:t>
            </a:r>
            <a:r>
              <a:rPr lang="en-IN" dirty="0" err="1"/>
              <a:t>numeric_columns</a:t>
            </a:r>
            <a:r>
              <a:rPr lang="en-IN" dirty="0"/>
              <a:t>].</a:t>
            </a:r>
            <a:r>
              <a:rPr lang="en-IN" dirty="0" err="1"/>
              <a:t>corr</a:t>
            </a:r>
            <a:r>
              <a:rPr lang="en-IN" dirty="0"/>
              <a:t>(</a:t>
            </a:r>
            <a:r>
              <a:rPr lang="en-IN" dirty="0" err="1"/>
              <a:t>numeric_only</a:t>
            </a:r>
            <a:r>
              <a:rPr lang="en-IN" dirty="0"/>
              <a:t>=True)</a:t>
            </a:r>
          </a:p>
          <a:p>
            <a:pPr marL="0" indent="0">
              <a:buNone/>
            </a:pPr>
            <a:r>
              <a:rPr lang="en-IN" dirty="0" err="1"/>
              <a:t>sns.heatmap</a:t>
            </a:r>
            <a:r>
              <a:rPr lang="en-IN" dirty="0"/>
              <a:t>(</a:t>
            </a:r>
          </a:p>
          <a:p>
            <a:pPr marL="0" indent="0">
              <a:buNone/>
            </a:pPr>
            <a:r>
              <a:rPr lang="en-IN" dirty="0"/>
              <a:t>    </a:t>
            </a:r>
            <a:r>
              <a:rPr lang="en-IN" dirty="0" err="1"/>
              <a:t>corr</a:t>
            </a:r>
            <a:r>
              <a:rPr lang="en-IN" dirty="0"/>
              <a:t>,</a:t>
            </a:r>
          </a:p>
          <a:p>
            <a:pPr marL="0" indent="0">
              <a:buNone/>
            </a:pPr>
            <a:r>
              <a:rPr lang="en-IN" dirty="0"/>
              <a:t>    </a:t>
            </a:r>
            <a:r>
              <a:rPr lang="en-IN" dirty="0" err="1"/>
              <a:t>annot</a:t>
            </a:r>
            <a:r>
              <a:rPr lang="en-IN" dirty="0"/>
              <a:t>=True,</a:t>
            </a:r>
          </a:p>
          <a:p>
            <a:pPr marL="0" indent="0">
              <a:buNone/>
            </a:pPr>
            <a:r>
              <a:rPr lang="en-IN" dirty="0"/>
              <a:t>    </a:t>
            </a:r>
            <a:r>
              <a:rPr lang="en-IN" dirty="0" err="1"/>
              <a:t>fmt</a:t>
            </a:r>
            <a:r>
              <a:rPr lang="en-IN" dirty="0"/>
              <a:t>=".2f",</a:t>
            </a:r>
          </a:p>
          <a:p>
            <a:pPr marL="0" indent="0">
              <a:buNone/>
            </a:pPr>
            <a:r>
              <a:rPr lang="en-IN" dirty="0"/>
              <a:t>    </a:t>
            </a:r>
            <a:r>
              <a:rPr lang="en-IN" dirty="0" err="1"/>
              <a:t>cmap</a:t>
            </a:r>
            <a:r>
              <a:rPr lang="en-IN" dirty="0"/>
              <a:t>="</a:t>
            </a:r>
            <a:r>
              <a:rPr lang="en-IN" dirty="0" err="1"/>
              <a:t>coolwarm</a:t>
            </a:r>
            <a:r>
              <a:rPr lang="en-IN" dirty="0"/>
              <a:t>",</a:t>
            </a:r>
          </a:p>
          <a:p>
            <a:pPr marL="0" indent="0">
              <a:buNone/>
            </a:pPr>
            <a:r>
              <a:rPr lang="en-IN" dirty="0"/>
              <a:t>    </a:t>
            </a:r>
            <a:r>
              <a:rPr lang="en-IN" dirty="0" err="1"/>
              <a:t>center</a:t>
            </a:r>
            <a:r>
              <a:rPr lang="en-IN" dirty="0"/>
              <a:t>=0,</a:t>
            </a:r>
          </a:p>
          <a:p>
            <a:pPr marL="0" indent="0">
              <a:buNone/>
            </a:pPr>
            <a:r>
              <a:rPr lang="en-IN" dirty="0"/>
              <a:t>    linewidths=0.5</a:t>
            </a:r>
          </a:p>
          <a:p>
            <a:pPr marL="0" indent="0">
              <a:buNone/>
            </a:pPr>
            <a:r>
              <a:rPr lang="en-IN" dirty="0"/>
              <a:t>)</a:t>
            </a:r>
          </a:p>
          <a:p>
            <a:pPr marL="0" indent="0">
              <a:buNone/>
            </a:pPr>
            <a:r>
              <a:rPr lang="en-IN" dirty="0" err="1"/>
              <a:t>plt.title</a:t>
            </a:r>
            <a:r>
              <a:rPr lang="en-IN" dirty="0"/>
              <a:t>("Correlation Matrix of Numerical Variables")</a:t>
            </a:r>
          </a:p>
          <a:p>
            <a:pPr marL="0" indent="0">
              <a:buNone/>
            </a:pPr>
            <a:r>
              <a:rPr lang="en-IN" dirty="0" err="1"/>
              <a:t>plt.tight_layout</a:t>
            </a:r>
            <a:r>
              <a:rPr lang="en-IN" dirty="0"/>
              <a:t>()</a:t>
            </a:r>
          </a:p>
          <a:p>
            <a:pPr marL="0" indent="0">
              <a:buNone/>
            </a:pPr>
            <a:r>
              <a:rPr lang="en-IN" dirty="0" err="1"/>
              <a:t>plt.show</a:t>
            </a:r>
            <a:r>
              <a:rPr lang="en-IN" dirty="0"/>
              <a:t>()</a:t>
            </a:r>
          </a:p>
          <a:p>
            <a:pPr marL="0" indent="0">
              <a:buNone/>
            </a:pPr>
            <a:endParaRPr lang="en-IN" dirty="0"/>
          </a:p>
          <a:p>
            <a:pPr lvl="0"/>
            <a:r>
              <a:rPr lang="en-IN" dirty="0"/>
              <a:t>The heatmap displays correlation coefficients between numerical variables. </a:t>
            </a:r>
          </a:p>
          <a:p>
            <a:pPr lvl="0"/>
            <a:r>
              <a:rPr lang="en-IN" dirty="0"/>
              <a:t>Values close to +1 indicate strong positive relationships, while values close to -1 indicate strong negative relationships. </a:t>
            </a:r>
          </a:p>
          <a:p>
            <a:pPr lvl="0"/>
            <a:r>
              <a:rPr lang="en-IN" dirty="0"/>
              <a:t>Darker </a:t>
            </a:r>
            <a:r>
              <a:rPr lang="en-IN" dirty="0" err="1"/>
              <a:t>colors</a:t>
            </a:r>
            <a:r>
              <a:rPr lang="en-IN" dirty="0"/>
              <a:t> represent stronger correlations. </a:t>
            </a:r>
          </a:p>
          <a:p>
            <a:pPr lvl="0"/>
            <a:r>
              <a:rPr lang="en-IN" dirty="0"/>
              <a:t>This analysis helps identify factors that significantly influence agricultural performance.</a:t>
            </a:r>
          </a:p>
          <a:p>
            <a:pPr marL="0" indent="0">
              <a:buNone/>
            </a:pPr>
            <a:endParaRPr lang="en-IN" dirty="0"/>
          </a:p>
        </p:txBody>
      </p:sp>
      <p:pic>
        <p:nvPicPr>
          <p:cNvPr id="3" name="Picture 2">
            <a:extLst>
              <a:ext uri="{FF2B5EF4-FFF2-40B4-BE49-F238E27FC236}">
                <a16:creationId xmlns:a16="http://schemas.microsoft.com/office/drawing/2014/main" id="{E704F657-623C-4F32-75B0-381DCD7F245A}"/>
              </a:ext>
            </a:extLst>
          </p:cNvPr>
          <p:cNvPicPr>
            <a:picLocks noChangeAspect="1"/>
          </p:cNvPicPr>
          <p:nvPr/>
        </p:nvPicPr>
        <p:blipFill>
          <a:blip r:embed="rId3"/>
          <a:stretch>
            <a:fillRect/>
          </a:stretch>
        </p:blipFill>
        <p:spPr>
          <a:xfrm>
            <a:off x="6096000" y="2476500"/>
            <a:ext cx="6012196" cy="304598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8" end="8"/>
                                            </p:txEl>
                                          </p:spTgt>
                                        </p:tgtEl>
                                        <p:attrNameLst>
                                          <p:attrName>style.visibility</p:attrName>
                                        </p:attrNameLst>
                                      </p:cBhvr>
                                      <p:to>
                                        <p:strVal val="visible"/>
                                      </p:to>
                                    </p:set>
                                    <p:animEffect transition="in" filter="fade">
                                      <p:cBhvr>
                                        <p:cTn id="84" dur="1000"/>
                                        <p:tgtEl>
                                          <p:spTgt spid="10">
                                            <p:txEl>
                                              <p:pRg st="8" end="8"/>
                                            </p:txEl>
                                          </p:spTgt>
                                        </p:tgtEl>
                                      </p:cBhvr>
                                    </p:animEffect>
                                    <p:anim calcmode="lin" valueType="num">
                                      <p:cBhvr>
                                        <p:cTn id="85"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9" end="9"/>
                                            </p:txEl>
                                          </p:spTgt>
                                        </p:tgtEl>
                                        <p:attrNameLst>
                                          <p:attrName>style.visibility</p:attrName>
                                        </p:attrNameLst>
                                      </p:cBhvr>
                                      <p:to>
                                        <p:strVal val="visible"/>
                                      </p:to>
                                    </p:set>
                                    <p:animEffect transition="in" filter="fade">
                                      <p:cBhvr>
                                        <p:cTn id="91" dur="1000"/>
                                        <p:tgtEl>
                                          <p:spTgt spid="10">
                                            <p:txEl>
                                              <p:pRg st="9" end="9"/>
                                            </p:txEl>
                                          </p:spTgt>
                                        </p:tgtEl>
                                      </p:cBhvr>
                                    </p:animEffect>
                                    <p:anim calcmode="lin" valueType="num">
                                      <p:cBhvr>
                                        <p:cTn id="92"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10">
                                            <p:txEl>
                                              <p:pRg st="10" end="10"/>
                                            </p:txEl>
                                          </p:spTgt>
                                        </p:tgtEl>
                                        <p:attrNameLst>
                                          <p:attrName>style.visibility</p:attrName>
                                        </p:attrNameLst>
                                      </p:cBhvr>
                                      <p:to>
                                        <p:strVal val="visible"/>
                                      </p:to>
                                    </p:set>
                                    <p:animEffect transition="in" filter="fade">
                                      <p:cBhvr>
                                        <p:cTn id="98" dur="1000"/>
                                        <p:tgtEl>
                                          <p:spTgt spid="10">
                                            <p:txEl>
                                              <p:pRg st="10" end="10"/>
                                            </p:txEl>
                                          </p:spTgt>
                                        </p:tgtEl>
                                      </p:cBhvr>
                                    </p:animEffect>
                                    <p:anim calcmode="lin" valueType="num">
                                      <p:cBhvr>
                                        <p:cTn id="99"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100"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10">
                                            <p:txEl>
                                              <p:pRg st="11" end="11"/>
                                            </p:txEl>
                                          </p:spTgt>
                                        </p:tgtEl>
                                        <p:attrNameLst>
                                          <p:attrName>style.visibility</p:attrName>
                                        </p:attrNameLst>
                                      </p:cBhvr>
                                      <p:to>
                                        <p:strVal val="visible"/>
                                      </p:to>
                                    </p:set>
                                    <p:animEffect transition="in" filter="fade">
                                      <p:cBhvr>
                                        <p:cTn id="105" dur="1000"/>
                                        <p:tgtEl>
                                          <p:spTgt spid="10">
                                            <p:txEl>
                                              <p:pRg st="11" end="11"/>
                                            </p:txEl>
                                          </p:spTgt>
                                        </p:tgtEl>
                                      </p:cBhvr>
                                    </p:animEffect>
                                    <p:anim calcmode="lin" valueType="num">
                                      <p:cBhvr>
                                        <p:cTn id="106" dur="1000" fill="hold"/>
                                        <p:tgtEl>
                                          <p:spTgt spid="10">
                                            <p:txEl>
                                              <p:pRg st="11" end="11"/>
                                            </p:txEl>
                                          </p:spTgt>
                                        </p:tgtEl>
                                        <p:attrNameLst>
                                          <p:attrName>ppt_x</p:attrName>
                                        </p:attrNameLst>
                                      </p:cBhvr>
                                      <p:tavLst>
                                        <p:tav tm="0">
                                          <p:val>
                                            <p:strVal val="#ppt_x"/>
                                          </p:val>
                                        </p:tav>
                                        <p:tav tm="100000">
                                          <p:val>
                                            <p:strVal val="#ppt_x"/>
                                          </p:val>
                                        </p:tav>
                                      </p:tavLst>
                                    </p:anim>
                                    <p:anim calcmode="lin" valueType="num">
                                      <p:cBhvr>
                                        <p:cTn id="107" dur="1000" fill="hold"/>
                                        <p:tgtEl>
                                          <p:spTgt spid="10">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42" presetClass="entr" presetSubtype="0" fill="hold" grpId="0" nodeType="clickEffect">
                                  <p:stCondLst>
                                    <p:cond delay="0"/>
                                  </p:stCondLst>
                                  <p:childTnLst>
                                    <p:set>
                                      <p:cBhvr>
                                        <p:cTn id="111" dur="1" fill="hold">
                                          <p:stCondLst>
                                            <p:cond delay="0"/>
                                          </p:stCondLst>
                                        </p:cTn>
                                        <p:tgtEl>
                                          <p:spTgt spid="10">
                                            <p:txEl>
                                              <p:pRg st="12" end="12"/>
                                            </p:txEl>
                                          </p:spTgt>
                                        </p:tgtEl>
                                        <p:attrNameLst>
                                          <p:attrName>style.visibility</p:attrName>
                                        </p:attrNameLst>
                                      </p:cBhvr>
                                      <p:to>
                                        <p:strVal val="visible"/>
                                      </p:to>
                                    </p:set>
                                    <p:animEffect transition="in" filter="fade">
                                      <p:cBhvr>
                                        <p:cTn id="112" dur="1000"/>
                                        <p:tgtEl>
                                          <p:spTgt spid="10">
                                            <p:txEl>
                                              <p:pRg st="12" end="12"/>
                                            </p:txEl>
                                          </p:spTgt>
                                        </p:tgtEl>
                                      </p:cBhvr>
                                    </p:animEffect>
                                    <p:anim calcmode="lin" valueType="num">
                                      <p:cBhvr>
                                        <p:cTn id="113" dur="1000" fill="hold"/>
                                        <p:tgtEl>
                                          <p:spTgt spid="10">
                                            <p:txEl>
                                              <p:pRg st="12" end="12"/>
                                            </p:txEl>
                                          </p:spTgt>
                                        </p:tgtEl>
                                        <p:attrNameLst>
                                          <p:attrName>ppt_x</p:attrName>
                                        </p:attrNameLst>
                                      </p:cBhvr>
                                      <p:tavLst>
                                        <p:tav tm="0">
                                          <p:val>
                                            <p:strVal val="#ppt_x"/>
                                          </p:val>
                                        </p:tav>
                                        <p:tav tm="100000">
                                          <p:val>
                                            <p:strVal val="#ppt_x"/>
                                          </p:val>
                                        </p:tav>
                                      </p:tavLst>
                                    </p:anim>
                                    <p:anim calcmode="lin" valueType="num">
                                      <p:cBhvr>
                                        <p:cTn id="114" dur="1000" fill="hold"/>
                                        <p:tgtEl>
                                          <p:spTgt spid="10">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42" presetClass="entr" presetSubtype="0" fill="hold" grpId="0" nodeType="clickEffect">
                                  <p:stCondLst>
                                    <p:cond delay="0"/>
                                  </p:stCondLst>
                                  <p:childTnLst>
                                    <p:set>
                                      <p:cBhvr>
                                        <p:cTn id="118" dur="1" fill="hold">
                                          <p:stCondLst>
                                            <p:cond delay="0"/>
                                          </p:stCondLst>
                                        </p:cTn>
                                        <p:tgtEl>
                                          <p:spTgt spid="10">
                                            <p:txEl>
                                              <p:pRg st="14" end="14"/>
                                            </p:txEl>
                                          </p:spTgt>
                                        </p:tgtEl>
                                        <p:attrNameLst>
                                          <p:attrName>style.visibility</p:attrName>
                                        </p:attrNameLst>
                                      </p:cBhvr>
                                      <p:to>
                                        <p:strVal val="visible"/>
                                      </p:to>
                                    </p:set>
                                    <p:animEffect transition="in" filter="fade">
                                      <p:cBhvr>
                                        <p:cTn id="119" dur="1000"/>
                                        <p:tgtEl>
                                          <p:spTgt spid="10">
                                            <p:txEl>
                                              <p:pRg st="14" end="14"/>
                                            </p:txEl>
                                          </p:spTgt>
                                        </p:tgtEl>
                                      </p:cBhvr>
                                    </p:animEffect>
                                    <p:anim calcmode="lin" valueType="num">
                                      <p:cBhvr>
                                        <p:cTn id="120" dur="1000" fill="hold"/>
                                        <p:tgtEl>
                                          <p:spTgt spid="10">
                                            <p:txEl>
                                              <p:pRg st="14" end="14"/>
                                            </p:txEl>
                                          </p:spTgt>
                                        </p:tgtEl>
                                        <p:attrNameLst>
                                          <p:attrName>ppt_x</p:attrName>
                                        </p:attrNameLst>
                                      </p:cBhvr>
                                      <p:tavLst>
                                        <p:tav tm="0">
                                          <p:val>
                                            <p:strVal val="#ppt_x"/>
                                          </p:val>
                                        </p:tav>
                                        <p:tav tm="100000">
                                          <p:val>
                                            <p:strVal val="#ppt_x"/>
                                          </p:val>
                                        </p:tav>
                                      </p:tavLst>
                                    </p:anim>
                                    <p:anim calcmode="lin" valueType="num">
                                      <p:cBhvr>
                                        <p:cTn id="121" dur="1000" fill="hold"/>
                                        <p:tgtEl>
                                          <p:spTgt spid="10">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122" fill="hold">
                      <p:stCondLst>
                        <p:cond delay="indefinite"/>
                      </p:stCondLst>
                      <p:childTnLst>
                        <p:par>
                          <p:cTn id="123" fill="hold">
                            <p:stCondLst>
                              <p:cond delay="0"/>
                            </p:stCondLst>
                            <p:childTnLst>
                              <p:par>
                                <p:cTn id="124" presetID="42" presetClass="entr" presetSubtype="0" fill="hold" grpId="0" nodeType="clickEffect">
                                  <p:stCondLst>
                                    <p:cond delay="0"/>
                                  </p:stCondLst>
                                  <p:childTnLst>
                                    <p:set>
                                      <p:cBhvr>
                                        <p:cTn id="125" dur="1" fill="hold">
                                          <p:stCondLst>
                                            <p:cond delay="0"/>
                                          </p:stCondLst>
                                        </p:cTn>
                                        <p:tgtEl>
                                          <p:spTgt spid="10">
                                            <p:txEl>
                                              <p:pRg st="15" end="15"/>
                                            </p:txEl>
                                          </p:spTgt>
                                        </p:tgtEl>
                                        <p:attrNameLst>
                                          <p:attrName>style.visibility</p:attrName>
                                        </p:attrNameLst>
                                      </p:cBhvr>
                                      <p:to>
                                        <p:strVal val="visible"/>
                                      </p:to>
                                    </p:set>
                                    <p:animEffect transition="in" filter="fade">
                                      <p:cBhvr>
                                        <p:cTn id="126" dur="1000"/>
                                        <p:tgtEl>
                                          <p:spTgt spid="10">
                                            <p:txEl>
                                              <p:pRg st="15" end="15"/>
                                            </p:txEl>
                                          </p:spTgt>
                                        </p:tgtEl>
                                      </p:cBhvr>
                                    </p:animEffect>
                                    <p:anim calcmode="lin" valueType="num">
                                      <p:cBhvr>
                                        <p:cTn id="127" dur="1000" fill="hold"/>
                                        <p:tgtEl>
                                          <p:spTgt spid="10">
                                            <p:txEl>
                                              <p:pRg st="15" end="15"/>
                                            </p:txEl>
                                          </p:spTgt>
                                        </p:tgtEl>
                                        <p:attrNameLst>
                                          <p:attrName>ppt_x</p:attrName>
                                        </p:attrNameLst>
                                      </p:cBhvr>
                                      <p:tavLst>
                                        <p:tav tm="0">
                                          <p:val>
                                            <p:strVal val="#ppt_x"/>
                                          </p:val>
                                        </p:tav>
                                        <p:tav tm="100000">
                                          <p:val>
                                            <p:strVal val="#ppt_x"/>
                                          </p:val>
                                        </p:tav>
                                      </p:tavLst>
                                    </p:anim>
                                    <p:anim calcmode="lin" valueType="num">
                                      <p:cBhvr>
                                        <p:cTn id="128" dur="1000" fill="hold"/>
                                        <p:tgtEl>
                                          <p:spTgt spid="10">
                                            <p:txEl>
                                              <p:pRg st="15" end="15"/>
                                            </p:txEl>
                                          </p:spTgt>
                                        </p:tgtEl>
                                        <p:attrNameLst>
                                          <p:attrName>ppt_y</p:attrName>
                                        </p:attrNameLst>
                                      </p:cBhvr>
                                      <p:tavLst>
                                        <p:tav tm="0">
                                          <p:val>
                                            <p:strVal val="#ppt_y+.1"/>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42" presetClass="entr" presetSubtype="0" fill="hold" grpId="0" nodeType="clickEffect">
                                  <p:stCondLst>
                                    <p:cond delay="0"/>
                                  </p:stCondLst>
                                  <p:childTnLst>
                                    <p:set>
                                      <p:cBhvr>
                                        <p:cTn id="132" dur="1" fill="hold">
                                          <p:stCondLst>
                                            <p:cond delay="0"/>
                                          </p:stCondLst>
                                        </p:cTn>
                                        <p:tgtEl>
                                          <p:spTgt spid="10">
                                            <p:txEl>
                                              <p:pRg st="16" end="16"/>
                                            </p:txEl>
                                          </p:spTgt>
                                        </p:tgtEl>
                                        <p:attrNameLst>
                                          <p:attrName>style.visibility</p:attrName>
                                        </p:attrNameLst>
                                      </p:cBhvr>
                                      <p:to>
                                        <p:strVal val="visible"/>
                                      </p:to>
                                    </p:set>
                                    <p:animEffect transition="in" filter="fade">
                                      <p:cBhvr>
                                        <p:cTn id="133" dur="1000"/>
                                        <p:tgtEl>
                                          <p:spTgt spid="10">
                                            <p:txEl>
                                              <p:pRg st="16" end="16"/>
                                            </p:txEl>
                                          </p:spTgt>
                                        </p:tgtEl>
                                      </p:cBhvr>
                                    </p:animEffect>
                                    <p:anim calcmode="lin" valueType="num">
                                      <p:cBhvr>
                                        <p:cTn id="134" dur="1000" fill="hold"/>
                                        <p:tgtEl>
                                          <p:spTgt spid="10">
                                            <p:txEl>
                                              <p:pRg st="16" end="16"/>
                                            </p:txEl>
                                          </p:spTgt>
                                        </p:tgtEl>
                                        <p:attrNameLst>
                                          <p:attrName>ppt_x</p:attrName>
                                        </p:attrNameLst>
                                      </p:cBhvr>
                                      <p:tavLst>
                                        <p:tav tm="0">
                                          <p:val>
                                            <p:strVal val="#ppt_x"/>
                                          </p:val>
                                        </p:tav>
                                        <p:tav tm="100000">
                                          <p:val>
                                            <p:strVal val="#ppt_x"/>
                                          </p:val>
                                        </p:tav>
                                      </p:tavLst>
                                    </p:anim>
                                    <p:anim calcmode="lin" valueType="num">
                                      <p:cBhvr>
                                        <p:cTn id="135" dur="1000" fill="hold"/>
                                        <p:tgtEl>
                                          <p:spTgt spid="10">
                                            <p:txEl>
                                              <p:pRg st="16" end="16"/>
                                            </p:txEl>
                                          </p:spTgt>
                                        </p:tgtEl>
                                        <p:attrNameLst>
                                          <p:attrName>ppt_y</p:attrName>
                                        </p:attrNameLst>
                                      </p:cBhvr>
                                      <p:tavLst>
                                        <p:tav tm="0">
                                          <p:val>
                                            <p:strVal val="#ppt_y+.1"/>
                                          </p:val>
                                        </p:tav>
                                        <p:tav tm="100000">
                                          <p:val>
                                            <p:strVal val="#ppt_y"/>
                                          </p:val>
                                        </p:tav>
                                      </p:tavLst>
                                    </p:anim>
                                  </p:childTnLst>
                                </p:cTn>
                              </p:par>
                            </p:childTnLst>
                          </p:cTn>
                        </p:par>
                      </p:childTnLst>
                    </p:cTn>
                  </p:par>
                  <p:par>
                    <p:cTn id="136" fill="hold">
                      <p:stCondLst>
                        <p:cond delay="indefinite"/>
                      </p:stCondLst>
                      <p:childTnLst>
                        <p:par>
                          <p:cTn id="137" fill="hold">
                            <p:stCondLst>
                              <p:cond delay="0"/>
                            </p:stCondLst>
                            <p:childTnLst>
                              <p:par>
                                <p:cTn id="138" presetID="42" presetClass="entr" presetSubtype="0" fill="hold" grpId="0" nodeType="clickEffect">
                                  <p:stCondLst>
                                    <p:cond delay="0"/>
                                  </p:stCondLst>
                                  <p:childTnLst>
                                    <p:set>
                                      <p:cBhvr>
                                        <p:cTn id="139" dur="1" fill="hold">
                                          <p:stCondLst>
                                            <p:cond delay="0"/>
                                          </p:stCondLst>
                                        </p:cTn>
                                        <p:tgtEl>
                                          <p:spTgt spid="10">
                                            <p:txEl>
                                              <p:pRg st="17" end="17"/>
                                            </p:txEl>
                                          </p:spTgt>
                                        </p:tgtEl>
                                        <p:attrNameLst>
                                          <p:attrName>style.visibility</p:attrName>
                                        </p:attrNameLst>
                                      </p:cBhvr>
                                      <p:to>
                                        <p:strVal val="visible"/>
                                      </p:to>
                                    </p:set>
                                    <p:animEffect transition="in" filter="fade">
                                      <p:cBhvr>
                                        <p:cTn id="140" dur="1000"/>
                                        <p:tgtEl>
                                          <p:spTgt spid="10">
                                            <p:txEl>
                                              <p:pRg st="17" end="17"/>
                                            </p:txEl>
                                          </p:spTgt>
                                        </p:tgtEl>
                                      </p:cBhvr>
                                    </p:animEffect>
                                    <p:anim calcmode="lin" valueType="num">
                                      <p:cBhvr>
                                        <p:cTn id="141" dur="1000" fill="hold"/>
                                        <p:tgtEl>
                                          <p:spTgt spid="10">
                                            <p:txEl>
                                              <p:pRg st="17" end="17"/>
                                            </p:txEl>
                                          </p:spTgt>
                                        </p:tgtEl>
                                        <p:attrNameLst>
                                          <p:attrName>ppt_x</p:attrName>
                                        </p:attrNameLst>
                                      </p:cBhvr>
                                      <p:tavLst>
                                        <p:tav tm="0">
                                          <p:val>
                                            <p:strVal val="#ppt_x"/>
                                          </p:val>
                                        </p:tav>
                                        <p:tav tm="100000">
                                          <p:val>
                                            <p:strVal val="#ppt_x"/>
                                          </p:val>
                                        </p:tav>
                                      </p:tavLst>
                                    </p:anim>
                                    <p:anim calcmode="lin" valueType="num">
                                      <p:cBhvr>
                                        <p:cTn id="142" dur="1000" fill="hold"/>
                                        <p:tgtEl>
                                          <p:spTgt spid="10">
                                            <p:txEl>
                                              <p:pRg st="17" end="1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2FF13A8C-F0A5-07C8-1227-C86CC5DF3BE8}"/>
              </a:ext>
            </a:extLst>
          </p:cNvPr>
          <p:cNvPicPr>
            <a:picLocks noGrp="1" noChangeAspect="1"/>
          </p:cNvPicPr>
          <p:nvPr>
            <p:ph type="pic" idx="1"/>
          </p:nvPr>
        </p:nvPicPr>
        <p:blipFill>
          <a:blip r:embed="rId2"/>
          <a:srcRect t="12764" b="12764"/>
          <a:stretch>
            <a:fillRect/>
          </a:stretch>
        </p:blipFill>
        <p:spPr>
          <a:xfrm>
            <a:off x="6281057" y="2849047"/>
            <a:ext cx="4995915" cy="2234921"/>
          </a:xfrm>
          <a:prstGeom prst="rect">
            <a:avLst/>
          </a:prstGeom>
        </p:spPr>
      </p:pic>
      <p:sp>
        <p:nvSpPr>
          <p:cNvPr id="4" name="Text Placeholder 3">
            <a:extLst>
              <a:ext uri="{FF2B5EF4-FFF2-40B4-BE49-F238E27FC236}">
                <a16:creationId xmlns:a16="http://schemas.microsoft.com/office/drawing/2014/main" id="{D129A16B-EE41-08C7-4F58-D375EFBABA38}"/>
              </a:ext>
            </a:extLst>
          </p:cNvPr>
          <p:cNvSpPr>
            <a:spLocks noGrp="1"/>
          </p:cNvSpPr>
          <p:nvPr>
            <p:ph type="body" sz="half" idx="2"/>
          </p:nvPr>
        </p:nvSpPr>
        <p:spPr>
          <a:xfrm>
            <a:off x="606578" y="2319148"/>
            <a:ext cx="5075766" cy="4538852"/>
          </a:xfrm>
        </p:spPr>
        <p:txBody>
          <a:bodyPr/>
          <a:lstStyle/>
          <a:p>
            <a:pPr lvl="0"/>
            <a:r>
              <a:rPr lang="en-IN" sz="1800" dirty="0"/>
              <a:t>This graph simultaneously analyses yield, profit, season, and farm area. </a:t>
            </a:r>
          </a:p>
          <a:p>
            <a:pPr lvl="0"/>
            <a:r>
              <a:rPr lang="en-IN" sz="1800" dirty="0"/>
              <a:t>Different colours represent seasons, while point size indicates farm area. </a:t>
            </a:r>
          </a:p>
          <a:p>
            <a:pPr lvl="0"/>
            <a:r>
              <a:rPr lang="en-IN" sz="1800" dirty="0"/>
              <a:t>Higher yields are generally associated with higher profits. </a:t>
            </a:r>
          </a:p>
          <a:p>
            <a:pPr lvl="0"/>
            <a:r>
              <a:rPr lang="en-IN" sz="1800" dirty="0"/>
              <a:t>The visualization helps compare seasonal performance and understand the combined impact of multiple factors. </a:t>
            </a:r>
          </a:p>
          <a:p>
            <a:endParaRPr lang="en-IN" dirty="0"/>
          </a:p>
        </p:txBody>
      </p:sp>
      <p:sp>
        <p:nvSpPr>
          <p:cNvPr id="5" name="Slide Number Placeholder 4">
            <a:extLst>
              <a:ext uri="{FF2B5EF4-FFF2-40B4-BE49-F238E27FC236}">
                <a16:creationId xmlns:a16="http://schemas.microsoft.com/office/drawing/2014/main" id="{A7802130-95D5-50EA-D91D-2FECB0028E9E}"/>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11" name="TextBox 10">
            <a:extLst>
              <a:ext uri="{FF2B5EF4-FFF2-40B4-BE49-F238E27FC236}">
                <a16:creationId xmlns:a16="http://schemas.microsoft.com/office/drawing/2014/main" id="{FBEBC88A-9E41-65DD-FAD0-4289B13EF357}"/>
              </a:ext>
            </a:extLst>
          </p:cNvPr>
          <p:cNvSpPr txBox="1"/>
          <p:nvPr/>
        </p:nvSpPr>
        <p:spPr>
          <a:xfrm>
            <a:off x="606578" y="946255"/>
            <a:ext cx="6098720" cy="830997"/>
          </a:xfrm>
          <a:prstGeom prst="rect">
            <a:avLst/>
          </a:prstGeom>
          <a:noFill/>
        </p:spPr>
        <p:txBody>
          <a:bodyPr wrap="square">
            <a:spAutoFit/>
          </a:bodyPr>
          <a:lstStyle/>
          <a:p>
            <a:r>
              <a:rPr lang="en-GB" sz="4800" dirty="0"/>
              <a:t>RESULTS</a:t>
            </a:r>
            <a:endParaRPr lang="en-IN" dirty="0"/>
          </a:p>
        </p:txBody>
      </p:sp>
      <p:sp>
        <p:nvSpPr>
          <p:cNvPr id="13" name="Title 12">
            <a:extLst>
              <a:ext uri="{FF2B5EF4-FFF2-40B4-BE49-F238E27FC236}">
                <a16:creationId xmlns:a16="http://schemas.microsoft.com/office/drawing/2014/main" id="{CA7AED55-E820-20AC-877F-F1D8C260A886}"/>
              </a:ext>
            </a:extLst>
          </p:cNvPr>
          <p:cNvSpPr>
            <a:spLocks noGrp="1"/>
          </p:cNvSpPr>
          <p:nvPr>
            <p:ph type="title"/>
          </p:nvPr>
        </p:nvSpPr>
        <p:spPr>
          <a:xfrm>
            <a:off x="11051420" y="6223924"/>
            <a:ext cx="765650" cy="566738"/>
          </a:xfrm>
        </p:spPr>
        <p:txBody>
          <a:bodyPr/>
          <a:lstStyle/>
          <a:p>
            <a:r>
              <a:rPr lang="en-IN" dirty="0"/>
              <a:t>.</a:t>
            </a:r>
          </a:p>
        </p:txBody>
      </p:sp>
    </p:spTree>
    <p:extLst>
      <p:ext uri="{BB962C8B-B14F-4D97-AF65-F5344CB8AC3E}">
        <p14:creationId xmlns:p14="http://schemas.microsoft.com/office/powerpoint/2010/main" val="20155439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8451714" cy="830997"/>
          </a:xfrm>
        </p:spPr>
        <p:txBody>
          <a:bodyPr>
            <a:normAutofit fontScale="90000"/>
          </a:bodyPr>
          <a:lstStyle/>
          <a:p>
            <a:pPr lvl="0"/>
            <a:r>
              <a:rPr lang="en-IN" sz="4000" dirty="0"/>
              <a:t>Future scope</a:t>
            </a:r>
            <a:br>
              <a:rPr lang="en-IN" sz="4000" dirty="0"/>
            </a:br>
            <a:br>
              <a:rPr lang="en-IN" sz="4000" dirty="0"/>
            </a:br>
            <a:br>
              <a:rPr lang="en-IN" sz="4000" dirty="0"/>
            </a:br>
            <a:r>
              <a:rPr lang="en-IN" sz="2400" b="0" dirty="0"/>
              <a:t>Develop machine learning models for crop yield prediction. </a:t>
            </a:r>
            <a:br>
              <a:rPr lang="en-IN" sz="2400" b="0" dirty="0"/>
            </a:br>
            <a:r>
              <a:rPr lang="en-IN" sz="2400" b="0" dirty="0"/>
              <a:t>Build a recommendation system for crop selection based on weather and soil conditions. </a:t>
            </a:r>
            <a:br>
              <a:rPr lang="en-IN" sz="2400" b="0" dirty="0"/>
            </a:br>
            <a:r>
              <a:rPr lang="en-IN" sz="2400" b="0" dirty="0"/>
              <a:t>Integrate real-time weather and rainfall data. </a:t>
            </a:r>
            <a:br>
              <a:rPr lang="en-IN" sz="2400" b="0" dirty="0"/>
            </a:br>
            <a:r>
              <a:rPr lang="en-IN" sz="2400" b="0" dirty="0"/>
              <a:t>Create an interactive dashboard using </a:t>
            </a:r>
            <a:r>
              <a:rPr lang="en-IN" sz="2400" b="0" dirty="0" err="1"/>
              <a:t>Streamlit</a:t>
            </a:r>
            <a:r>
              <a:rPr lang="en-IN" sz="2400" b="0" dirty="0"/>
              <a:t> or Power BI. </a:t>
            </a:r>
            <a:br>
              <a:rPr lang="en-IN" sz="2400" b="0" dirty="0"/>
            </a:br>
            <a:r>
              <a:rPr lang="en-IN" sz="2400" b="0" dirty="0"/>
              <a:t>Expand the analysis to include market prices and profit forecasting. </a:t>
            </a:r>
            <a:br>
              <a:rPr lang="en-IN" sz="2400" b="0" dirty="0"/>
            </a:br>
            <a:r>
              <a:rPr lang="en-IN" sz="2400" b="0" dirty="0"/>
              <a:t>Support region-wise and state-wise agricultural comparisons. </a:t>
            </a:r>
            <a:br>
              <a:rPr lang="en-IN" sz="2400" b="0" dirty="0"/>
            </a:br>
            <a:r>
              <a:rPr lang="en-IN" sz="2400" b="0" dirty="0"/>
              <a:t>Implement AI-based decision support for farmers.</a:t>
            </a:r>
            <a:br>
              <a:rPr lang="en-IN" sz="2400" b="0" dirty="0"/>
            </a:br>
            <a:endParaRPr lang="en-IN" sz="2400" b="0"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369332"/>
          </a:xfrm>
          <a:prstGeom prst="rect">
            <a:avLst/>
          </a:prstGeom>
          <a:noFill/>
        </p:spPr>
        <p:txBody>
          <a:bodyPr wrap="square">
            <a:spAutoFit/>
          </a:bodyPr>
          <a:lstStyle/>
          <a:p>
            <a:endParaRPr lang="en-US" dirty="0"/>
          </a:p>
        </p:txBody>
      </p:sp>
      <p:sp>
        <p:nvSpPr>
          <p:cNvPr id="6" name="TextBox 5">
            <a:extLst>
              <a:ext uri="{FF2B5EF4-FFF2-40B4-BE49-F238E27FC236}">
                <a16:creationId xmlns:a16="http://schemas.microsoft.com/office/drawing/2014/main" id="{6F72C349-D4E0-D77F-FA50-CC0B038859C7}"/>
              </a:ext>
            </a:extLst>
          </p:cNvPr>
          <p:cNvSpPr txBox="1"/>
          <p:nvPr/>
        </p:nvSpPr>
        <p:spPr>
          <a:xfrm>
            <a:off x="729256" y="1275371"/>
            <a:ext cx="6098720" cy="646331"/>
          </a:xfrm>
          <a:prstGeom prst="rect">
            <a:avLst/>
          </a:prstGeom>
          <a:noFill/>
        </p:spPr>
        <p:txBody>
          <a:bodyPr wrap="square">
            <a:spAutoFit/>
          </a:bodyPr>
          <a:lstStyle/>
          <a:p>
            <a:r>
              <a:rPr lang="en-IN" dirty="0"/>
              <a:t>https://github.com/pavandattu77/Seasonal_Agriculture_Performance_Data_Analytics.git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77613AFB-2E67-95F6-B317-DA0A35CF7533}"/>
              </a:ext>
            </a:extLst>
          </p:cNvPr>
          <p:cNvPicPr>
            <a:picLocks noChangeAspect="1"/>
          </p:cNvPicPr>
          <p:nvPr/>
        </p:nvPicPr>
        <p:blipFill>
          <a:blip r:embed="rId3"/>
          <a:stretch>
            <a:fillRect/>
          </a:stretch>
        </p:blipFill>
        <p:spPr>
          <a:xfrm>
            <a:off x="725401" y="1429810"/>
            <a:ext cx="7055878" cy="494856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3499426" y="4220346"/>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1495</TotalTime>
  <Words>1016</Words>
  <Application>Microsoft Office PowerPoint</Application>
  <PresentationFormat>Widescreen</PresentationFormat>
  <Paragraphs>100</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 Seasonal Agriculture Performance Analysis </vt:lpstr>
      <vt:lpstr>PROBLEM  STATEMENT</vt:lpstr>
      <vt:lpstr>Project Description:  Seasonal Agriculture Performance Data Analytics is a data analytics project that examines agricultural production data across different seasons to identify patterns, trends, and factors affecting crop performance. The project involves data cleaning, handling missing values, exploratory data analysis (EDA), statistical analysis, correlation analysis, and seasonal comparisons. By analysing variables such as crop type, rainfall, temperature, irrigation methods, production, yield, and profit, the project provides meaningful insights that can help improve agricultural planning and decision-making. The findings support farmers and agricultural stakeholders in understanding seasonal impacts on crop productivity and profitability.  </vt:lpstr>
      <vt:lpstr>WHO ARE THE END USERS?</vt:lpstr>
      <vt:lpstr>Technology Used</vt:lpstr>
      <vt:lpstr>RESULTS </vt:lpstr>
      <vt:lpstr>RESULTS </vt:lpstr>
      <vt:lpstr>RESULTS </vt:lpstr>
      <vt:lpstr>RESULTS </vt:lpstr>
      <vt:lpstr>RESULTS </vt:lpstr>
      <vt:lpstr>.</vt:lpstr>
      <vt:lpstr>Future scope   Develop machine learning models for crop yield prediction.  Build a recommendation system for crop selection based on weather and soil conditions.  Integrate real-time weather and rainfall data.  Create an interactive dashboard using Streamlit or Power BI.  Expand the analysis to include market prices and profit forecasting.  Support region-wise and state-wise agricultural comparisons.  Implement AI-based decision support for farmers. </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Pavan Dattu B</cp:lastModifiedBy>
  <cp:revision>112</cp:revision>
  <dcterms:created xsi:type="dcterms:W3CDTF">2021-07-11T13:13:15Z</dcterms:created>
  <dcterms:modified xsi:type="dcterms:W3CDTF">2026-09-10T14:47:14Z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